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</p:sldMasterIdLst>
  <p:notesMasterIdLst>
    <p:notesMasterId r:id="rId46"/>
  </p:notesMasterIdLst>
  <p:sldIdLst>
    <p:sldId id="256" r:id="rId4"/>
    <p:sldId id="257" r:id="rId5"/>
    <p:sldId id="258" r:id="rId6"/>
    <p:sldId id="305" r:id="rId7"/>
    <p:sldId id="259" r:id="rId8"/>
    <p:sldId id="260" r:id="rId9"/>
    <p:sldId id="261" r:id="rId10"/>
    <p:sldId id="263" r:id="rId11"/>
    <p:sldId id="303" r:id="rId12"/>
    <p:sldId id="308" r:id="rId13"/>
    <p:sldId id="309" r:id="rId14"/>
    <p:sldId id="271" r:id="rId15"/>
    <p:sldId id="298" r:id="rId16"/>
    <p:sldId id="299" r:id="rId17"/>
    <p:sldId id="300" r:id="rId18"/>
    <p:sldId id="281" r:id="rId19"/>
    <p:sldId id="311" r:id="rId20"/>
    <p:sldId id="302" r:id="rId21"/>
    <p:sldId id="313" r:id="rId22"/>
    <p:sldId id="314" r:id="rId23"/>
    <p:sldId id="315" r:id="rId24"/>
    <p:sldId id="325" r:id="rId25"/>
    <p:sldId id="316" r:id="rId26"/>
    <p:sldId id="265" r:id="rId27"/>
    <p:sldId id="317" r:id="rId28"/>
    <p:sldId id="328" r:id="rId29"/>
    <p:sldId id="320" r:id="rId30"/>
    <p:sldId id="267" r:id="rId31"/>
    <p:sldId id="268" r:id="rId32"/>
    <p:sldId id="269" r:id="rId33"/>
    <p:sldId id="287" r:id="rId34"/>
    <p:sldId id="284" r:id="rId35"/>
    <p:sldId id="323" r:id="rId36"/>
    <p:sldId id="321" r:id="rId37"/>
    <p:sldId id="326" r:id="rId38"/>
    <p:sldId id="294" r:id="rId39"/>
    <p:sldId id="277" r:id="rId40"/>
    <p:sldId id="278" r:id="rId41"/>
    <p:sldId id="327" r:id="rId42"/>
    <p:sldId id="297" r:id="rId43"/>
    <p:sldId id="318" r:id="rId44"/>
    <p:sldId id="319" r:id="rId45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6" d="100"/>
          <a:sy n="56" d="100"/>
        </p:scale>
        <p:origin x="976" y="44"/>
      </p:cViewPr>
      <p:guideLst>
        <p:guide orient="horz" pos="20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F7B9D-728F-46AC-A1A3-5B01B1E0225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4C934-8B2E-449C-B963-C77D354B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2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4C934-8B2E-449C-B963-C77D354BE1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Master1-Office-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713160"/>
            <a:ext cx="1051344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71640" cy="2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85080" y="1604520"/>
            <a:ext cx="71640" cy="2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/>
          </p:nvPr>
        </p:nvSpPr>
        <p:spPr>
          <a:xfrm>
            <a:off x="609480" y="1628640"/>
            <a:ext cx="71640" cy="2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/>
          </p:nvPr>
        </p:nvSpPr>
        <p:spPr>
          <a:xfrm>
            <a:off x="685080" y="1628640"/>
            <a:ext cx="71640" cy="2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60006E3-B878-448C-B9BA-118EA3A62AC5}" type="slidenum">
              <a:t>‹#›</a:t>
            </a:fld>
            <a:endParaRPr/>
          </a:p>
        </p:txBody>
      </p:sp>
      <p:sp>
        <p:nvSpPr>
          <p:cNvPr id="3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Master1-Layout1-title-Title-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890280"/>
            <a:ext cx="10513440" cy="27468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120" cy="189468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2120" cy="189468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2120" cy="189468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2120" cy="189468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6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9" name="PlaceHolder 7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767676"/>
                </a:solidFill>
                <a:effectLst/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AA0B754-EA93-45BE-8F51-B74B0C19A5A8}" type="slidenum">
              <a:rPr lang="en-US" sz="1200" b="0" u="none" strike="noStrike">
                <a:solidFill>
                  <a:srgbClr val="767676"/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890280"/>
            <a:ext cx="10513440" cy="27468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0880" cy="189468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0880" cy="189468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0880" cy="189468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0880" cy="189468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0880" cy="189468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0880" cy="189468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8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9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767676"/>
                </a:solidFill>
                <a:effectLst/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687BB5B-E011-4E25-9565-F59D0D5FE895}" type="slidenum">
              <a:rPr lang="en-US" sz="1200" b="0" u="none" strike="noStrike">
                <a:solidFill>
                  <a:srgbClr val="767676"/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10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Master1-Layout2-obj-Title-and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713160"/>
            <a:ext cx="1051344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71640" cy="2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85080" y="1604520"/>
            <a:ext cx="71640" cy="2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9480" y="1628640"/>
            <a:ext cx="71640" cy="2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685080" y="1628640"/>
            <a:ext cx="71640" cy="2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DB897A34-6FEA-4EDB-AF68-451CC504F7B1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134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47240" cy="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765000" y="1604520"/>
            <a:ext cx="147240" cy="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09480" y="1655280"/>
            <a:ext cx="147240" cy="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765000" y="1655280"/>
            <a:ext cx="147240" cy="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" name="PlaceHolder 6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" name="PlaceHolder 7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767676"/>
                </a:solidFill>
                <a:effectLst/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9DBB0E8-7EC4-49DA-BEE9-4941286585D0}" type="slidenum">
              <a:rPr lang="en-US" sz="1200" b="0" u="none" strike="noStrike">
                <a:solidFill>
                  <a:srgbClr val="767676"/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134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47240" cy="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765000" y="1604520"/>
            <a:ext cx="147240" cy="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9480" y="1655280"/>
            <a:ext cx="147240" cy="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765000" y="1655280"/>
            <a:ext cx="147240" cy="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6" name="PlaceHolder 6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7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767676"/>
                </a:solidFill>
                <a:effectLst/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A470DB-F790-41A5-A8B3-6FF9F2DF55C4}" type="slidenum">
              <a:rPr lang="en-US" sz="1200" b="0" u="none" strike="noStrike">
                <a:solidFill>
                  <a:srgbClr val="767676"/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53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5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3.svg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svg"/><Relationship Id="rId7" Type="http://schemas.openxmlformats.org/officeDocument/2006/relationships/image" Target="../media/image66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5.png"/><Relationship Id="rId5" Type="http://schemas.openxmlformats.org/officeDocument/2006/relationships/image" Target="../media/image64.jpeg"/><Relationship Id="rId4" Type="http://schemas.openxmlformats.org/officeDocument/2006/relationships/image" Target="../media/image3.png"/><Relationship Id="rId9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13" Type="http://schemas.openxmlformats.org/officeDocument/2006/relationships/image" Target="../media/image2.png"/><Relationship Id="rId3" Type="http://schemas.openxmlformats.org/officeDocument/2006/relationships/image" Target="../media/image68.png"/><Relationship Id="rId7" Type="http://schemas.openxmlformats.org/officeDocument/2006/relationships/image" Target="../media/image71.svg"/><Relationship Id="rId12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0.png"/><Relationship Id="rId11" Type="http://schemas.openxmlformats.org/officeDocument/2006/relationships/image" Target="../media/image73.svg"/><Relationship Id="rId5" Type="http://schemas.openxmlformats.org/officeDocument/2006/relationships/image" Target="../media/image43.png"/><Relationship Id="rId10" Type="http://schemas.openxmlformats.org/officeDocument/2006/relationships/image" Target="../media/image21.svg"/><Relationship Id="rId4" Type="http://schemas.openxmlformats.org/officeDocument/2006/relationships/image" Target="../media/image69.png"/><Relationship Id="rId9" Type="http://schemas.openxmlformats.org/officeDocument/2006/relationships/image" Target="../media/image53.sv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/>
          </p:nvPr>
        </p:nvSpPr>
        <p:spPr>
          <a:xfrm>
            <a:off x="839280" y="5234940"/>
            <a:ext cx="10513440" cy="240093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 anchorCtr="1">
            <a:normAutofit/>
          </a:bodyPr>
          <a:lstStyle/>
          <a:p>
            <a:pPr marL="432000" indent="0" algn="ctr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David Rach, Natarajan Ayithan, Xiaoxuan Fan</a:t>
            </a:r>
          </a:p>
          <a:p>
            <a:pPr marL="432000" indent="0" algn="ctr">
              <a:lnSpc>
                <a:spcPts val="720"/>
              </a:lnSpc>
              <a:spcBef>
                <a:spcPts val="1701"/>
              </a:spcBef>
              <a:spcAft>
                <a:spcPts val="283"/>
              </a:spcAft>
              <a:buNone/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Noto Sans CJK SC"/>
              <a:cs typeface="Times New Roman" panose="02020603050405020304" pitchFamily="18" charset="0"/>
            </a:endParaRPr>
          </a:p>
          <a:p>
            <a:pPr marL="432000" indent="0" algn="ctr">
              <a:lnSpc>
                <a:spcPts val="720"/>
              </a:lnSpc>
              <a:spcBef>
                <a:spcPts val="1701"/>
              </a:spcBef>
              <a:spcAft>
                <a:spcPts val="283"/>
              </a:spcAft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Noto Sans CJK SC"/>
                <a:cs typeface="Times New Roman" panose="02020603050405020304" pitchFamily="18" charset="0"/>
              </a:rPr>
              <a:t>UMGCCC Flow Cytometry Shared Resource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indent="0" algn="ctr">
              <a:lnSpc>
                <a:spcPts val="720"/>
              </a:lnSpc>
              <a:spcBef>
                <a:spcPts val="1701"/>
              </a:spcBef>
              <a:spcAft>
                <a:spcPts val="283"/>
              </a:spcAft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Noto Sans CJK SC"/>
                <a:cs typeface="Times New Roman" panose="02020603050405020304" pitchFamily="18" charset="0"/>
              </a:rPr>
              <a:t>June 6th, 2026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0" y="4469850"/>
            <a:ext cx="12192000" cy="65079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 fontScale="90000"/>
          </a:bodyPr>
          <a:lstStyle/>
          <a:p>
            <a:pPr indent="0" algn="ctr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pos="0" algn="l"/>
              </a:tabLst>
            </a:pPr>
            <a:r>
              <a:rPr lang="en-US" sz="31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Everything, Everywhere, All at Once: Open-source Automation for Situational Awareness </a:t>
            </a:r>
            <a:r>
              <a:rPr lang="en-US" sz="3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1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Shared Resource Laboratories</a:t>
            </a:r>
            <a:br>
              <a:rPr sz="3600" dirty="0"/>
            </a:b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lang="en-US" sz="3600" dirty="0"/>
            </a:b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Graphic 45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57200" y="228600"/>
            <a:ext cx="4116600" cy="108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Picture 46"/>
          <p:cNvPicPr/>
          <p:nvPr/>
        </p:nvPicPr>
        <p:blipFill>
          <a:blip r:embed="rId3"/>
          <a:stretch/>
        </p:blipFill>
        <p:spPr>
          <a:xfrm>
            <a:off x="10287000" y="609624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Picture 50"/>
          <p:cNvPicPr/>
          <p:nvPr/>
        </p:nvPicPr>
        <p:blipFill>
          <a:blip r:embed="rId4"/>
          <a:stretch/>
        </p:blipFill>
        <p:spPr>
          <a:xfrm>
            <a:off x="8458200" y="228600"/>
            <a:ext cx="3426840" cy="134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Graphic 51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57560" y="228600"/>
            <a:ext cx="4116600" cy="108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>
            <a:extLst>
              <a:ext uri="{FF2B5EF4-FFF2-40B4-BE49-F238E27FC236}">
                <a16:creationId xmlns:a16="http://schemas.microsoft.com/office/drawing/2014/main" id="{0E7D908C-E446-672C-1B89-426C403EEF0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-422910" y="6640830"/>
            <a:ext cx="1954530" cy="50292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 anchorCtr="1">
            <a:normAutofit/>
          </a:bodyPr>
          <a:lstStyle/>
          <a:p>
            <a:pPr marL="432000" indent="0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Slides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04771-EEB9-FEFB-8579-17917C3A07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1733" y="965201"/>
            <a:ext cx="2528533" cy="2918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D6A4CB-83BF-80D9-0946-19CFCD238B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14" y="5234940"/>
            <a:ext cx="1284064" cy="12872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46079"/>
            <a:ext cx="12114000" cy="616861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 good day at a small SRL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096000" y="887870"/>
            <a:ext cx="5388480" cy="5261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Everything is normal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Show up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sheathe and waste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Flush out the fluidic lines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QC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Drink your fourth cup of coffee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 Sorting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Training new users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panels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Deep diving interesting data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 home, rinse and repeat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Picture 54"/>
          <p:cNvPicPr/>
          <p:nvPr/>
        </p:nvPicPr>
        <p:blipFill>
          <a:blip r:embed="rId2"/>
          <a:stretch/>
        </p:blipFill>
        <p:spPr>
          <a:xfrm>
            <a:off x="10084160" y="6181266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EAC4FB-6B78-5E3E-5980-69BA7ECAA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103" y="918631"/>
            <a:ext cx="3892550" cy="51900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0" y="11790"/>
            <a:ext cx="12190320" cy="6854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on a bad day at a small SRL…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Picture 57"/>
          <p:cNvPicPr/>
          <p:nvPr/>
        </p:nvPicPr>
        <p:blipFill>
          <a:blip r:embed="rId2"/>
          <a:stretch/>
        </p:blipFill>
        <p:spPr>
          <a:xfrm>
            <a:off x="10070190" y="618804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A0F88E8-3C25-403D-9AA7-FE2E22C63487}"/>
              </a:ext>
            </a:extLst>
          </p:cNvPr>
          <p:cNvGrpSpPr/>
          <p:nvPr/>
        </p:nvGrpSpPr>
        <p:grpSpPr>
          <a:xfrm>
            <a:off x="1874520" y="1117598"/>
            <a:ext cx="7946813" cy="4952925"/>
            <a:chOff x="2660905" y="1142694"/>
            <a:chExt cx="6870190" cy="514138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8231C98-3EB6-C80B-288F-4404D4306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0905" y="1142694"/>
              <a:ext cx="6870190" cy="514138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1F5FAC-36E1-8526-A058-69597881A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3521" y="2205990"/>
              <a:ext cx="4160520" cy="40005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D9381-C3F9-636F-C261-0D40D92BA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>
            <a:extLst>
              <a:ext uri="{FF2B5EF4-FFF2-40B4-BE49-F238E27FC236}">
                <a16:creationId xmlns:a16="http://schemas.microsoft.com/office/drawing/2014/main" id="{C37836F4-2371-1A60-8CF6-2D9802132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790"/>
            <a:ext cx="12190320" cy="6854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Goal for the Day: Simply Survive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CF3AFE4D-2076-281F-92A9-EBBCA22BD0A2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70190" y="618804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2D3B416-4C6C-57B3-5153-FD16FEF46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95"/>
          <a:stretch>
            <a:fillRect/>
          </a:stretch>
        </p:blipFill>
        <p:spPr>
          <a:xfrm>
            <a:off x="3594303" y="870566"/>
            <a:ext cx="5003393" cy="488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331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90320" cy="13233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Visible and Hidden Costs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37466" y="1319435"/>
            <a:ext cx="5406133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US" sz="2400" b="0" u="sng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Issue was detected, cytometer not in use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Staff time 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Lost Revenue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Delayed User Experiments</a:t>
            </a:r>
          </a:p>
        </p:txBody>
      </p:sp>
      <p:pic>
        <p:nvPicPr>
          <p:cNvPr id="61" name="Picture 60"/>
          <p:cNvPicPr/>
          <p:nvPr/>
        </p:nvPicPr>
        <p:blipFill>
          <a:blip r:embed="rId2"/>
          <a:stretch/>
        </p:blipFill>
        <p:spPr>
          <a:xfrm>
            <a:off x="10287360" y="609660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5B1E973-011C-3611-E876-0A510EE99856}"/>
              </a:ext>
            </a:extLst>
          </p:cNvPr>
          <p:cNvSpPr/>
          <p:nvPr/>
        </p:nvSpPr>
        <p:spPr>
          <a:xfrm>
            <a:off x="526460" y="3157220"/>
            <a:ext cx="5406133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US" sz="2400" u="sng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Issue undetected,  cytometer still in use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Poor Quality Data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More complex analysis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Need for experiment repeats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E9434B-7876-2594-42CB-89F865113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99556"/>
            <a:ext cx="3767592" cy="49064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F2C9F00-F9CE-DA4F-E332-838BEE00BBE3}"/>
              </a:ext>
            </a:extLst>
          </p:cNvPr>
          <p:cNvSpPr/>
          <p:nvPr/>
        </p:nvSpPr>
        <p:spPr>
          <a:xfrm>
            <a:off x="559056" y="4965518"/>
            <a:ext cx="5406133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2400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Reputational Costs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90320" cy="13233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Are you treading water or drowning? </a:t>
            </a:r>
          </a:p>
        </p:txBody>
      </p:sp>
      <p:pic>
        <p:nvPicPr>
          <p:cNvPr id="64" name="Picture 63"/>
          <p:cNvPicPr/>
          <p:nvPr/>
        </p:nvPicPr>
        <p:blipFill>
          <a:blip r:embed="rId2"/>
          <a:stretch/>
        </p:blipFill>
        <p:spPr>
          <a:xfrm>
            <a:off x="10287360" y="609660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1E7A29-8C5B-CADB-994D-673FCBC8F0BD}"/>
              </a:ext>
            </a:extLst>
          </p:cNvPr>
          <p:cNvSpPr txBox="1"/>
          <p:nvPr/>
        </p:nvSpPr>
        <p:spPr>
          <a:xfrm>
            <a:off x="2336800" y="6148400"/>
            <a:ext cx="60960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https://homeschooling2e.com/2021/04/11/treading-water/</a:t>
            </a:r>
            <a:endParaRPr lang="en-US" sz="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A5CA3-D89A-01A6-A13B-F004EAD17E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1200290"/>
            <a:ext cx="7340600" cy="49931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73152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we anticipate the waves?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187440" y="1634490"/>
            <a:ext cx="5713200" cy="30763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2900" indent="-342900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Laser/Detector Issues</a:t>
            </a:r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Bleach-damaged QC Beads</a:t>
            </a:r>
          </a:p>
          <a:p>
            <a:pPr marL="342900" indent="-342900">
              <a:spcAft>
                <a:spcPts val="120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Debris Accumulation in fluidic lines</a:t>
            </a:r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Degrading tandem dyes</a:t>
            </a:r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autofluorescences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" name="Picture 66"/>
          <p:cNvPicPr/>
          <p:nvPr/>
        </p:nvPicPr>
        <p:blipFill>
          <a:blip r:embed="rId2"/>
          <a:stretch/>
        </p:blipFill>
        <p:spPr>
          <a:xfrm>
            <a:off x="10287360" y="609660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68BDC5-DE5E-1ACD-912B-C00330CA47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"/>
          <a:stretch>
            <a:fillRect/>
          </a:stretch>
        </p:blipFill>
        <p:spPr>
          <a:xfrm>
            <a:off x="484593" y="1337310"/>
            <a:ext cx="5374339" cy="41598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69209A-4E6D-B3D7-2E73-5870DDBE4EDF}"/>
              </a:ext>
            </a:extLst>
          </p:cNvPr>
          <p:cNvSpPr txBox="1"/>
          <p:nvPr/>
        </p:nvSpPr>
        <p:spPr>
          <a:xfrm>
            <a:off x="6176010" y="4522262"/>
            <a:ext cx="57226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ct val="4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What stories can the data already being acquired daily at out cores tell us?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0" y="354690"/>
            <a:ext cx="8818470" cy="59400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UMGCCC Flow Cytometry Shared Resource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26530" y="1588770"/>
            <a:ext cx="3005370" cy="23068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Analyzers: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3 Cytek Aurora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1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Amnis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FlowSight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1 MacsQuant10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1 BD LSR-II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1 BD Canto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2" name="Picture 71"/>
          <p:cNvPicPr/>
          <p:nvPr/>
        </p:nvPicPr>
        <p:blipFill>
          <a:blip r:embed="rId2"/>
          <a:stretch/>
        </p:blipFill>
        <p:spPr>
          <a:xfrm>
            <a:off x="10287360" y="609660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B5DFDAF-1794-EF1D-ECD8-CCB6C3A8CFD5}"/>
              </a:ext>
            </a:extLst>
          </p:cNvPr>
          <p:cNvSpPr/>
          <p:nvPr/>
        </p:nvSpPr>
        <p:spPr>
          <a:xfrm>
            <a:off x="6537959" y="4088130"/>
            <a:ext cx="3314701" cy="19375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Cell Sorters: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1 Cytek Aurora CS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1 BD Aria II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Flow Cytometry Staff: 3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81F339-A608-24C5-D815-EDD1917C497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8602134" y="94402"/>
            <a:ext cx="3467946" cy="1105748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0E7CE9-E54B-80BD-476D-D678EA09F4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3727450"/>
            <a:ext cx="1765300" cy="23537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167110-1B61-71DA-F492-E0DA717258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833" y="1655844"/>
            <a:ext cx="1778177" cy="23709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B4CDCA-ECE6-626B-DBE0-C95AB15CF19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274" y="4211603"/>
            <a:ext cx="1774399" cy="23658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785ECB-D080-9DFF-95F8-9194F6175370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552060" y="1234440"/>
            <a:ext cx="3219840" cy="236601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658C4D-40D7-705D-E9E9-790D3122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316589CD-8D2C-B874-1828-9326598F5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7086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Goals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EB3A580-EE82-5880-3734-306D9DC2D955}"/>
              </a:ext>
            </a:extLst>
          </p:cNvPr>
          <p:cNvSpPr/>
          <p:nvPr/>
        </p:nvSpPr>
        <p:spPr>
          <a:xfrm>
            <a:off x="6096000" y="1422601"/>
            <a:ext cx="4739640" cy="37841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the tools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bandwidth to leverage them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expenses minimal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 our code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0E3E3695-A3FF-E844-B6FD-785B5F9C34BB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287360" y="609660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D1F33E-CBF5-AE30-C68A-21211BA7BD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206" t="35646" r="27350" b="11575"/>
          <a:stretch>
            <a:fillRect/>
          </a:stretch>
        </p:blipFill>
        <p:spPr>
          <a:xfrm>
            <a:off x="0" y="659130"/>
            <a:ext cx="6014858" cy="523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882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C163-8EBF-B39B-7FA1-FACAAEE0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>
            <a:extLst>
              <a:ext uri="{FF2B5EF4-FFF2-40B4-BE49-F238E27FC236}">
                <a16:creationId xmlns:a16="http://schemas.microsoft.com/office/drawing/2014/main" id="{BF790007-2222-1B9A-97F1-E69C4978A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46080"/>
            <a:ext cx="10513440" cy="69687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What data is already sitting around?</a:t>
            </a: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AF280B8F-CED2-B77D-DAE1-7A7697767822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287360" y="609660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C2FAE1C-29F8-E74C-E6BD-C063F4078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25" y="1531233"/>
            <a:ext cx="7531135" cy="2930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F7B53D-3366-8F57-05C4-6C70566399E0}"/>
              </a:ext>
            </a:extLst>
          </p:cNvPr>
          <p:cNvSpPr txBox="1"/>
          <p:nvPr/>
        </p:nvSpPr>
        <p:spPr>
          <a:xfrm>
            <a:off x="7952423" y="2572018"/>
            <a:ext cx="39462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Before and After QC .fcs files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For Every Instrument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Back to 2017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290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BC4A-FE9D-D895-1B40-D371932E9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>
            <a:extLst>
              <a:ext uri="{FF2B5EF4-FFF2-40B4-BE49-F238E27FC236}">
                <a16:creationId xmlns:a16="http://schemas.microsoft.com/office/drawing/2014/main" id="{0E818C3C-DC37-B484-08CA-E9E67830A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46080"/>
            <a:ext cx="10513440" cy="69687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tomated Daily Processing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D5C1F72F-BDC6-A296-9F36-2DA51E50B32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287360" y="609660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F3AAED-ADBD-BC33-E836-6B1CC35C0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16" y="952923"/>
            <a:ext cx="4528854" cy="52109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16A331-8EEB-A098-1131-6CCCB02757BD}"/>
              </a:ext>
            </a:extLst>
          </p:cNvPr>
          <p:cNvSpPr/>
          <p:nvPr/>
        </p:nvSpPr>
        <p:spPr>
          <a:xfrm>
            <a:off x="6096000" y="868680"/>
            <a:ext cx="5471160" cy="26762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US" sz="2400" u="sng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Behind-the-scenes: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Using R (and increasingly Rust) to process the .fcs files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Automated transfer to GitHub via Windows Task Scheduler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Our Quarto Website gets updated twice daily via a GitHub action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DD84E4-7112-82A4-FB3D-0B971726BC86}"/>
              </a:ext>
            </a:extLst>
          </p:cNvPr>
          <p:cNvSpPr/>
          <p:nvPr/>
        </p:nvSpPr>
        <p:spPr>
          <a:xfrm>
            <a:off x="6096000" y="3924300"/>
            <a:ext cx="5551170" cy="26762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US" sz="2400" u="sng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Eclectic Mix of Computation: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Existing Instrument Computers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Repurposed Windows 10 End-of-Life computers running Linux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Small motherboard computers (Raspberry Pi 4b)</a:t>
            </a: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09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46080"/>
            <a:ext cx="10513440" cy="69687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Instrument Quality Control Dashboard</a:t>
            </a:r>
          </a:p>
        </p:txBody>
      </p:sp>
      <p:pic>
        <p:nvPicPr>
          <p:cNvPr id="153" name="Picture 152"/>
          <p:cNvPicPr/>
          <p:nvPr/>
        </p:nvPicPr>
        <p:blipFill>
          <a:blip r:embed="rId2"/>
          <a:stretch/>
        </p:blipFill>
        <p:spPr>
          <a:xfrm>
            <a:off x="10287360" y="609660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FC1F22-70F2-1065-98C5-D1987C11A7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658" y="1093302"/>
            <a:ext cx="9749753" cy="4442796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0BD9439-3BFA-E775-9FFF-27F48AE5BBCD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15460" y="1154430"/>
            <a:ext cx="1647630" cy="16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>
            <a:extLst>
              <a:ext uri="{FF2B5EF4-FFF2-40B4-BE49-F238E27FC236}">
                <a16:creationId xmlns:a16="http://schemas.microsoft.com/office/drawing/2014/main" id="{DF7C3099-79D6-F40E-E84E-12253997011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-148590" y="2971800"/>
            <a:ext cx="1954530" cy="50292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 anchorCtr="1">
            <a:normAutofit/>
          </a:bodyPr>
          <a:lstStyle/>
          <a:p>
            <a:pPr marL="432000" indent="0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Dashboard</a:t>
            </a:r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515C04CC-A1E5-0273-3B15-F1E48A35E6C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-148590" y="5227320"/>
            <a:ext cx="1954530" cy="50292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 anchorCtr="1">
            <a:normAutofit/>
          </a:bodyPr>
          <a:lstStyle/>
          <a:p>
            <a:pPr marL="432000" indent="0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How-To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5972F9-B801-C4C0-DAF6-44F855690B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9" t="5987"/>
          <a:stretch>
            <a:fillRect/>
          </a:stretch>
        </p:blipFill>
        <p:spPr>
          <a:xfrm>
            <a:off x="274320" y="3545126"/>
            <a:ext cx="1665350" cy="159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120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0F700-72E9-FCF0-BBBA-D9FD04743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>
            <a:extLst>
              <a:ext uri="{FF2B5EF4-FFF2-40B4-BE49-F238E27FC236}">
                <a16:creationId xmlns:a16="http://schemas.microsoft.com/office/drawing/2014/main" id="{3E4D2379-F51C-2C71-68E7-A8254B792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46080"/>
            <a:ext cx="10513440" cy="69687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Instrument Quality Control Dashboard</a:t>
            </a: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8A128B1E-219F-546F-7C71-3B8F655EE90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58760" y="615375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684C41-C9BC-0F06-FF32-9951F5930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40" y="726621"/>
            <a:ext cx="11027719" cy="517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59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D2F60-C2F7-99D5-C425-87D44F23F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>
            <a:extLst>
              <a:ext uri="{FF2B5EF4-FFF2-40B4-BE49-F238E27FC236}">
                <a16:creationId xmlns:a16="http://schemas.microsoft.com/office/drawing/2014/main" id="{56016556-3D4F-17B8-1C80-5A326004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46080"/>
            <a:ext cx="10513440" cy="69687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Instrument Stability over Time</a:t>
            </a: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968EECBE-3E60-6D3C-2E76-E3C84E84F28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58760" y="615375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9F498D-E60F-2DE4-C825-202298BB0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806" y="1555803"/>
            <a:ext cx="7484367" cy="370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769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6289A-A487-9CBB-44F2-51FB1514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>
            <a:extLst>
              <a:ext uri="{FF2B5EF4-FFF2-40B4-BE49-F238E27FC236}">
                <a16:creationId xmlns:a16="http://schemas.microsoft.com/office/drawing/2014/main" id="{2609FF4D-5D61-70DC-5E4C-C2B0BE5B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46080"/>
            <a:ext cx="10513440" cy="69687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on Lasers/Detectors</a:t>
            </a: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99EE35C1-CA6D-0502-A91F-F5066D28595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58760" y="615375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F8327FD-452A-4F9E-8F05-DBD12F445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58" t="35868" r="29201" b="10694"/>
          <a:stretch>
            <a:fillRect/>
          </a:stretch>
        </p:blipFill>
        <p:spPr>
          <a:xfrm>
            <a:off x="411479" y="1234440"/>
            <a:ext cx="5406391" cy="42624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CB0686-AB94-7B65-F6FA-EF508B5BB9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436" y="1586864"/>
            <a:ext cx="5458524" cy="372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455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B9D3A-E9A5-4ECC-EBF9-DF818952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>
            <a:extLst>
              <a:ext uri="{FF2B5EF4-FFF2-40B4-BE49-F238E27FC236}">
                <a16:creationId xmlns:a16="http://schemas.microsoft.com/office/drawing/2014/main" id="{1FB17224-2229-F07D-5F04-2AF17E7C6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46080"/>
            <a:ext cx="10513440" cy="62829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Front row seats to Bleach-Sensitive QC Bead Lots</a:t>
            </a: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99550D2F-710E-D540-DF09-0FF9CEEC92E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287360" y="609660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C383C3-5296-6145-1C56-5F490EDACD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17" y="704874"/>
            <a:ext cx="3321503" cy="43084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5C4908-CE3C-763C-58EC-E25207815B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808" y="1143000"/>
            <a:ext cx="6887422" cy="45916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BBE62C-7270-BBBF-0A02-86AF3463CE1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099" y="4931945"/>
            <a:ext cx="1224981" cy="1261277"/>
          </a:xfrm>
          <a:prstGeom prst="rect">
            <a:avLst/>
          </a:prstGeom>
        </p:spPr>
      </p:pic>
      <p:sp>
        <p:nvSpPr>
          <p:cNvPr id="6" name="PlaceHolder 1">
            <a:extLst>
              <a:ext uri="{FF2B5EF4-FFF2-40B4-BE49-F238E27FC236}">
                <a16:creationId xmlns:a16="http://schemas.microsoft.com/office/drawing/2014/main" id="{666EB4FF-8A01-089E-8776-C018A9B1B06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051560" y="6355080"/>
            <a:ext cx="1954530" cy="50292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 anchorCtr="1">
            <a:normAutofit/>
          </a:bodyPr>
          <a:lstStyle/>
          <a:p>
            <a:pPr marL="432000" indent="0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416807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60AD2-BB5B-E9DF-8FC7-B7ABB6E05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>
            <a:extLst>
              <a:ext uri="{FF2B5EF4-FFF2-40B4-BE49-F238E27FC236}">
                <a16:creationId xmlns:a16="http://schemas.microsoft.com/office/drawing/2014/main" id="{7EE100FA-1849-56FD-A0F3-2DAB07E20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46080"/>
            <a:ext cx="10513440" cy="62829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Beyond .fcs files, what else can we leverage?</a:t>
            </a: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CE78E00E-EF31-3B92-5FE8-4B128183861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104480" y="617661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6C9D89-3EA3-34BA-08D0-08DD9D599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359" y="1112076"/>
            <a:ext cx="6916961" cy="460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84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350CF-2865-5FC6-070D-7963B514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CBA5FD4F-7645-9469-F94D-6435CD98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080"/>
            <a:ext cx="11635740" cy="71973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SpectroFlo</a:t>
            </a: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lang="en-US" sz="36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Expt</a:t>
            </a: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Files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AAC30994-6482-7A06-88CE-EF9F6D06699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67226" y="6181266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3B7AB2-0445-40EA-27A0-E68A7B6BC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1" r="16069" b="-4531"/>
          <a:stretch>
            <a:fillRect/>
          </a:stretch>
        </p:blipFill>
        <p:spPr>
          <a:xfrm>
            <a:off x="667597" y="769197"/>
            <a:ext cx="4968240" cy="29634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AB5F47-1C20-A876-1C71-2C40DA7F20F4}"/>
              </a:ext>
            </a:extLst>
          </p:cNvPr>
          <p:cNvSpPr txBox="1"/>
          <p:nvPr/>
        </p:nvSpPr>
        <p:spPr>
          <a:xfrm>
            <a:off x="6323013" y="2025494"/>
            <a:ext cx="476916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tabLst/>
              <a:defRPr/>
            </a:pPr>
            <a:r>
              <a:rPr lang="en-US" sz="2400" u="sng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Every .</a:t>
            </a:r>
            <a:r>
              <a:rPr lang="en-US" sz="24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Expt</a:t>
            </a:r>
            <a:r>
              <a:rPr lang="en-US" sz="2400" u="sng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file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Read in XML to 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Access Experimental Metadata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tabLst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tabLst/>
              <a:defRPr/>
            </a:pPr>
            <a:r>
              <a:rPr lang="en-US" sz="2400" u="sng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Useful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Fluorophores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Markers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3EF6CE-A3FC-A649-3498-89B497A47F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94" y="3846685"/>
            <a:ext cx="5046133" cy="202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08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9B75E-43EC-275B-570A-F01FF299A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71">
            <a:extLst>
              <a:ext uri="{FF2B5EF4-FFF2-40B4-BE49-F238E27FC236}">
                <a16:creationId xmlns:a16="http://schemas.microsoft.com/office/drawing/2014/main" id="{F70CBABF-D0E5-D12D-21E6-09642C23A89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67226" y="6181266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217002-DC0E-324C-1D66-5516D74B5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605" y="1016141"/>
            <a:ext cx="3769431" cy="52478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D3FE93-EE96-CE62-EED9-2C87AF650EC9}"/>
              </a:ext>
            </a:extLst>
          </p:cNvPr>
          <p:cNvSpPr txBox="1"/>
          <p:nvPr/>
        </p:nvSpPr>
        <p:spPr>
          <a:xfrm>
            <a:off x="7015163" y="1337608"/>
            <a:ext cx="448341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Gather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Identify the Zipped Folders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Unzip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Copy out the 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Expt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File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Re-zip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C44806A-5C5A-40DD-D9FF-AFA4C753C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CE6529-4694-A093-5829-50E6C893C5D7}"/>
              </a:ext>
            </a:extLst>
          </p:cNvPr>
          <p:cNvSpPr txBox="1"/>
          <p:nvPr/>
        </p:nvSpPr>
        <p:spPr>
          <a:xfrm>
            <a:off x="3951923" y="145465"/>
            <a:ext cx="6372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SpectroFlo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Expt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files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B4AB15-34DE-B036-CF47-4E4E50EDD7C0}"/>
              </a:ext>
            </a:extLst>
          </p:cNvPr>
          <p:cNvSpPr txBox="1"/>
          <p:nvPr/>
        </p:nvSpPr>
        <p:spPr>
          <a:xfrm>
            <a:off x="7018973" y="3558838"/>
            <a:ext cx="447960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Parse for Fluorophores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Parse for Markers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Save outputs by user and experiment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FB9189-6E2A-74A8-F48C-65B6C51716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19" y="2579940"/>
            <a:ext cx="1458661" cy="1469520"/>
          </a:xfrm>
          <a:prstGeom prst="rect">
            <a:avLst/>
          </a:prstGeom>
        </p:spPr>
      </p:pic>
      <p:sp>
        <p:nvSpPr>
          <p:cNvPr id="5" name="PlaceHolder 1">
            <a:extLst>
              <a:ext uri="{FF2B5EF4-FFF2-40B4-BE49-F238E27FC236}">
                <a16:creationId xmlns:a16="http://schemas.microsoft.com/office/drawing/2014/main" id="{8D512B0D-998D-840B-2171-0F074E58AEB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0" y="4266630"/>
            <a:ext cx="1954530" cy="50292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 anchorCtr="1">
            <a:normAutofit/>
          </a:bodyPr>
          <a:lstStyle/>
          <a:p>
            <a:pPr marL="432000" indent="0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132095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AAB61-2969-79BF-A4F9-A887FF938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71">
            <a:extLst>
              <a:ext uri="{FF2B5EF4-FFF2-40B4-BE49-F238E27FC236}">
                <a16:creationId xmlns:a16="http://schemas.microsoft.com/office/drawing/2014/main" id="{60680177-8D8D-BCBB-EAC6-7684F7075D4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67226" y="6181266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9FF6CA-D1B7-BD25-A0A4-07AAA029D8DB}"/>
              </a:ext>
            </a:extLst>
          </p:cNvPr>
          <p:cNvSpPr txBox="1"/>
          <p:nvPr/>
        </p:nvSpPr>
        <p:spPr>
          <a:xfrm>
            <a:off x="6878003" y="2365921"/>
            <a:ext cx="51006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How many fluorophores in our largest user panel?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endParaRPr kumimoji="0" lang="en-US" sz="24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“Does anyone have an anti-human Alexa Fluor 647 CD163 that we can borrow?”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F1DA603-95BC-EFAE-B6DC-779059FB6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5E2E50-6346-7DCD-0DBA-A6CE33B81148}"/>
              </a:ext>
            </a:extLst>
          </p:cNvPr>
          <p:cNvSpPr txBox="1"/>
          <p:nvPr/>
        </p:nvSpPr>
        <p:spPr>
          <a:xfrm>
            <a:off x="3951923" y="145465"/>
            <a:ext cx="6372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What can we do with that data?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53B75-C2CE-94DA-3917-21049D3B88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33" y="2091689"/>
            <a:ext cx="6046552" cy="287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506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CE515-1C80-0F5B-D7EA-45E561097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71">
            <a:extLst>
              <a:ext uri="{FF2B5EF4-FFF2-40B4-BE49-F238E27FC236}">
                <a16:creationId xmlns:a16="http://schemas.microsoft.com/office/drawing/2014/main" id="{6F3FE23E-7625-A6B2-6798-9F0B71F5DEC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67226" y="6181266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5CB18330-867F-04A7-A628-C52E1AAC2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E262BE-34D7-1681-D0C4-C97DE5942EA1}"/>
              </a:ext>
            </a:extLst>
          </p:cNvPr>
          <p:cNvSpPr txBox="1"/>
          <p:nvPr/>
        </p:nvSpPr>
        <p:spPr>
          <a:xfrm>
            <a:off x="0" y="12260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Evaluate User Panels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12E2AE-ACE0-0104-141F-EEB141EB0CCD}"/>
              </a:ext>
            </a:extLst>
          </p:cNvPr>
          <p:cNvSpPr txBox="1"/>
          <p:nvPr/>
        </p:nvSpPr>
        <p:spPr>
          <a:xfrm>
            <a:off x="7402830" y="2112794"/>
            <a:ext cx="47891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Once we have parsed the panels fluorophores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Signatures (based on references)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Signature Worksheet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Cosine Values (Similarity Matrix)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Matrix Condition Number (Complexity Index)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Collinearity (Unmixing-dependent Spread)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A2440618-61BC-C487-896E-3F33D8219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38" b="19439"/>
          <a:stretch>
            <a:fillRect/>
          </a:stretch>
        </p:blipFill>
        <p:spPr>
          <a:xfrm>
            <a:off x="3984545" y="3646169"/>
            <a:ext cx="3310882" cy="2903821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4C9E2C43-F5EA-4931-67E9-00E90C3035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139"/>
          <a:stretch>
            <a:fillRect/>
          </a:stretch>
        </p:blipFill>
        <p:spPr>
          <a:xfrm>
            <a:off x="1244176" y="1162392"/>
            <a:ext cx="3350795" cy="2152308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4F05613F-5B40-64A1-6A21-260398D6D5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26" r="17004" b="25275"/>
          <a:stretch>
            <a:fillRect/>
          </a:stretch>
        </p:blipFill>
        <p:spPr>
          <a:xfrm>
            <a:off x="982981" y="3771900"/>
            <a:ext cx="3155796" cy="2497154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CA73ADFD-533D-58C4-B5BF-738D263F9A9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472"/>
          <a:stretch>
            <a:fillRect/>
          </a:stretch>
        </p:blipFill>
        <p:spPr>
          <a:xfrm>
            <a:off x="4723139" y="1088040"/>
            <a:ext cx="2340601" cy="2435181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C18A3A33-FB50-1B3A-8F18-009A0E64054B}"/>
              </a:ext>
            </a:extLst>
          </p:cNvPr>
          <p:cNvSpPr txBox="1"/>
          <p:nvPr/>
        </p:nvSpPr>
        <p:spPr>
          <a:xfrm>
            <a:off x="7365683" y="1255068"/>
            <a:ext cx="4049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Not all user panels are “good”</a:t>
            </a: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0D858A5C-DC80-BBAF-1565-1A10590D785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-290129" y="4049708"/>
            <a:ext cx="1317142" cy="388371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 anchorCtr="1">
            <a:normAutofit/>
          </a:bodyPr>
          <a:lstStyle/>
          <a:p>
            <a:pPr marL="432000" indent="0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FCA902-8183-0932-35F4-A9100E68994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1" y="2767344"/>
            <a:ext cx="1108710" cy="109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545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06D59-5312-1C61-F804-02BF561C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71">
            <a:extLst>
              <a:ext uri="{FF2B5EF4-FFF2-40B4-BE49-F238E27FC236}">
                <a16:creationId xmlns:a16="http://schemas.microsoft.com/office/drawing/2014/main" id="{7BA7DC34-11B1-F403-1CC2-BAF4DF3AF10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67226" y="6181266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C00C354-5B37-9486-082C-0FBC70DE3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0B444E-73CE-89BE-3EBD-3C67681697FA}"/>
              </a:ext>
            </a:extLst>
          </p:cNvPr>
          <p:cNvSpPr txBox="1"/>
          <p:nvPr/>
        </p:nvSpPr>
        <p:spPr>
          <a:xfrm>
            <a:off x="338667" y="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about the quality of the actual data?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AF18D7-8449-77CE-0459-E47D8F24F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667" y="971496"/>
            <a:ext cx="6738533" cy="513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11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6FB2E-BEE0-8A6D-C5BD-85C70F5F8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71">
            <a:extLst>
              <a:ext uri="{FF2B5EF4-FFF2-40B4-BE49-F238E27FC236}">
                <a16:creationId xmlns:a16="http://schemas.microsoft.com/office/drawing/2014/main" id="{0BF9C36A-1C2F-4C90-B9D3-C6ED928A546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67226" y="6181266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827B112-0E09-ABC7-4D52-CF6AC9642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2042F2-987E-2F30-D630-704B77322F3C}"/>
              </a:ext>
            </a:extLst>
          </p:cNvPr>
          <p:cNvSpPr txBox="1"/>
          <p:nvPr/>
        </p:nvSpPr>
        <p:spPr>
          <a:xfrm>
            <a:off x="1405890" y="99745"/>
            <a:ext cx="10582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Christopher Hall’s previous attempts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68FF03-EA7B-3CA6-F77E-EB186C18C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1" y="992434"/>
            <a:ext cx="6012180" cy="4768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3884BD-D433-F95D-FAA5-5BDFC0971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408" y="680730"/>
            <a:ext cx="4318711" cy="519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18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2096580" y="0"/>
            <a:ext cx="7998840" cy="67437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Evaluating Unmixing Controls</a:t>
            </a:r>
          </a:p>
        </p:txBody>
      </p:sp>
      <p:pic>
        <p:nvPicPr>
          <p:cNvPr id="86" name="Picture 85"/>
          <p:cNvPicPr/>
          <p:nvPr/>
        </p:nvPicPr>
        <p:blipFill>
          <a:blip r:embed="rId2"/>
          <a:stretch/>
        </p:blipFill>
        <p:spPr>
          <a:xfrm>
            <a:off x="365760" y="863100"/>
            <a:ext cx="2857500" cy="245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Picture 93"/>
          <p:cNvPicPr/>
          <p:nvPr/>
        </p:nvPicPr>
        <p:blipFill>
          <a:blip r:embed="rId3"/>
          <a:stretch/>
        </p:blipFill>
        <p:spPr>
          <a:xfrm>
            <a:off x="10287360" y="609660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87976A-1893-C5FB-1383-E564AFF76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7" y="1169076"/>
            <a:ext cx="6189794" cy="46112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6D00B2-F3C0-1EAF-1AA3-F81D3A292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409" y="3463290"/>
            <a:ext cx="5164217" cy="28462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9EAAF4-CAD6-77FB-BD8D-10393407CE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428" y="1531620"/>
            <a:ext cx="1655906" cy="167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397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>
            <a:extLst>
              <a:ext uri="{FF2B5EF4-FFF2-40B4-BE49-F238E27FC236}">
                <a16:creationId xmlns:a16="http://schemas.microsoft.com/office/drawing/2014/main" id="{B56D50F8-25A6-2984-DD16-471CC66C1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5920" y="228600"/>
            <a:ext cx="7998840" cy="4343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When PerCP-Cy5.5 degrades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C0AE4C-D043-31D0-74EC-511BED5B1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570" y="1129843"/>
            <a:ext cx="8187576" cy="47547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97D5D8-23B3-E268-E819-612501EC83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9" y="2532585"/>
            <a:ext cx="1672022" cy="1655670"/>
          </a:xfrm>
          <a:prstGeom prst="rect">
            <a:avLst/>
          </a:prstGeom>
        </p:spPr>
      </p:pic>
      <p:sp>
        <p:nvSpPr>
          <p:cNvPr id="6" name="PlaceHolder 1">
            <a:extLst>
              <a:ext uri="{FF2B5EF4-FFF2-40B4-BE49-F238E27FC236}">
                <a16:creationId xmlns:a16="http://schemas.microsoft.com/office/drawing/2014/main" id="{5A379912-2D94-94E5-AB2B-9B40069C34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55640" y="4297680"/>
            <a:ext cx="2393250" cy="10515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 anchorCtr="1">
            <a:normAutofit/>
          </a:bodyPr>
          <a:lstStyle/>
          <a:p>
            <a:pPr marL="432000" indent="0" algn="ctr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Interactive</a:t>
            </a:r>
          </a:p>
          <a:p>
            <a:pPr marL="432000" indent="0" algn="ctr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Plots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9528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A1AA6-EDCB-2874-312F-1899EDF5A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26867145-78C4-9B53-DDC9-99C70873C39E}"/>
              </a:ext>
            </a:extLst>
          </p:cNvPr>
          <p:cNvSpPr/>
          <p:nvPr/>
        </p:nvSpPr>
        <p:spPr>
          <a:xfrm>
            <a:off x="3686220" y="5872009"/>
            <a:ext cx="501201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 normalized signature variants</a:t>
            </a:r>
            <a:endParaRPr lang="en-US" sz="2400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laceHolder 1">
            <a:extLst>
              <a:ext uri="{FF2B5EF4-FFF2-40B4-BE49-F238E27FC236}">
                <a16:creationId xmlns:a16="http://schemas.microsoft.com/office/drawing/2014/main" id="{59C691B7-0921-3B74-9354-67FB3C02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5920" y="228600"/>
            <a:ext cx="7998840" cy="4343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When antibody vials are in good condition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15A645-86B2-0EB7-F01E-AEF99008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948"/>
          <a:stretch>
            <a:fillRect/>
          </a:stretch>
        </p:blipFill>
        <p:spPr>
          <a:xfrm>
            <a:off x="5273039" y="2640330"/>
            <a:ext cx="6758469" cy="16687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6BF22E-0399-6131-B99F-44764D106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9" r="18535" b="29466"/>
          <a:stretch>
            <a:fillRect/>
          </a:stretch>
        </p:blipFill>
        <p:spPr>
          <a:xfrm>
            <a:off x="319928" y="1645920"/>
            <a:ext cx="4789282" cy="366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513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725E-9714-D655-94DD-96B85245F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5C9C8AA7-8C99-05A0-6C77-DA34C6CCCDA9}"/>
              </a:ext>
            </a:extLst>
          </p:cNvPr>
          <p:cNvSpPr/>
          <p:nvPr/>
        </p:nvSpPr>
        <p:spPr>
          <a:xfrm>
            <a:off x="2798490" y="5791718"/>
            <a:ext cx="757995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Noticeable increase in normalized signature variants</a:t>
            </a:r>
            <a:endParaRPr lang="en-US" sz="2400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laceHolder 1">
            <a:extLst>
              <a:ext uri="{FF2B5EF4-FFF2-40B4-BE49-F238E27FC236}">
                <a16:creationId xmlns:a16="http://schemas.microsoft.com/office/drawing/2014/main" id="{F5B42F03-7FBC-3D6E-82A8-46BB3666A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5920" y="228600"/>
            <a:ext cx="7998840" cy="4343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When the tandem starts degrading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3718F7-2CF6-4EBF-41F5-E728F7627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70" y="1099449"/>
            <a:ext cx="6172200" cy="40209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0E14E6-B732-0733-5329-C1E892F77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580" y="913842"/>
            <a:ext cx="4983480" cy="424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649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11656440" cy="13233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Residual Autofluorescence peaks</a:t>
            </a:r>
            <a:b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 Single-Color Signatures</a:t>
            </a:r>
          </a:p>
        </p:txBody>
      </p:sp>
      <p:pic>
        <p:nvPicPr>
          <p:cNvPr id="109" name="Picture 108"/>
          <p:cNvPicPr/>
          <p:nvPr/>
        </p:nvPicPr>
        <p:blipFill>
          <a:blip r:embed="rId2"/>
          <a:srcRect b="45221"/>
          <a:stretch/>
        </p:blipFill>
        <p:spPr>
          <a:xfrm>
            <a:off x="228600" y="1828800"/>
            <a:ext cx="11630160" cy="251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109"/>
          <p:cNvPicPr/>
          <p:nvPr/>
        </p:nvPicPr>
        <p:blipFill>
          <a:blip r:embed="rId3"/>
          <a:stretch/>
        </p:blipFill>
        <p:spPr>
          <a:xfrm>
            <a:off x="228600" y="214200"/>
            <a:ext cx="1598400" cy="138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Graphic 110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697760" y="182520"/>
            <a:ext cx="1415880" cy="141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Rectangle 111"/>
          <p:cNvSpPr/>
          <p:nvPr/>
        </p:nvSpPr>
        <p:spPr>
          <a:xfrm>
            <a:off x="228600" y="4547520"/>
            <a:ext cx="1165680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For cell controls with a </a:t>
            </a:r>
            <a:r>
              <a:rPr lang="en-US" sz="2000" b="1" u="sng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moderate density antigen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on </a:t>
            </a:r>
            <a:r>
              <a:rPr lang="en-US" sz="2000" b="1" u="sng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bright fluorophores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, we see that any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residual autofluorescence contributes minimally to the overall isolated single-color signature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when gated according to best practices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228600" y="4114800"/>
            <a:ext cx="684000" cy="226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4114800" y="4114800"/>
            <a:ext cx="684000" cy="226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8458200" y="4114800"/>
            <a:ext cx="684000" cy="226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6" name="Rectangle 115"/>
          <p:cNvSpPr/>
          <p:nvPr/>
        </p:nvSpPr>
        <p:spPr>
          <a:xfrm rot="144600">
            <a:off x="5058720" y="4235040"/>
            <a:ext cx="3430440" cy="2314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" name="Rectangle 116"/>
          <p:cNvSpPr/>
          <p:nvPr/>
        </p:nvSpPr>
        <p:spPr>
          <a:xfrm rot="144600">
            <a:off x="8644320" y="4222800"/>
            <a:ext cx="3430440" cy="2314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8" name="Picture 117"/>
          <p:cNvPicPr/>
          <p:nvPr/>
        </p:nvPicPr>
        <p:blipFill>
          <a:blip r:embed="rId5"/>
          <a:stretch/>
        </p:blipFill>
        <p:spPr>
          <a:xfrm>
            <a:off x="10287360" y="6096600"/>
            <a:ext cx="1519560" cy="53316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02803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11656440" cy="13233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Residual Autofluorescence peaks</a:t>
            </a:r>
            <a:b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 Single-Color Signatures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28600" y="4619520"/>
            <a:ext cx="1165680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For cell controls with a </a:t>
            </a:r>
            <a:r>
              <a:rPr lang="en-US" sz="20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moderate density antigen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on </a:t>
            </a:r>
            <a:r>
              <a:rPr lang="en-US" sz="20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dim fluorophores,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we see substantial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residual autofluorescence contributions to the isolated single-color normalized signatures even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when gated according to best practices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1" name="Picture 120"/>
          <p:cNvPicPr/>
          <p:nvPr/>
        </p:nvPicPr>
        <p:blipFill>
          <a:blip r:embed="rId2"/>
          <a:stretch/>
        </p:blipFill>
        <p:spPr>
          <a:xfrm>
            <a:off x="228600" y="214200"/>
            <a:ext cx="1598400" cy="138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Graphic 121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697760" y="182520"/>
            <a:ext cx="1415880" cy="14158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3" name="Group 122"/>
          <p:cNvGrpSpPr/>
          <p:nvPr/>
        </p:nvGrpSpPr>
        <p:grpSpPr>
          <a:xfrm>
            <a:off x="0" y="1756800"/>
            <a:ext cx="11885400" cy="2584800"/>
            <a:chOff x="0" y="1756800"/>
            <a:chExt cx="11885400" cy="2584800"/>
          </a:xfrm>
        </p:grpSpPr>
        <p:pic>
          <p:nvPicPr>
            <p:cNvPr id="124" name="Picture 123"/>
            <p:cNvPicPr/>
            <p:nvPr/>
          </p:nvPicPr>
          <p:blipFill>
            <a:blip r:embed="rId4"/>
            <a:srcRect t="47914"/>
            <a:stretch/>
          </p:blipFill>
          <p:spPr>
            <a:xfrm>
              <a:off x="0" y="1900080"/>
              <a:ext cx="11885400" cy="2441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5" name="Rectangle 124"/>
            <p:cNvSpPr/>
            <p:nvPr/>
          </p:nvSpPr>
          <p:spPr>
            <a:xfrm>
              <a:off x="0" y="1788840"/>
              <a:ext cx="4113000" cy="2268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4343400" y="1756800"/>
              <a:ext cx="4113000" cy="2268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7772400" y="1756800"/>
              <a:ext cx="4113000" cy="2268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128" name="Picture 127"/>
          <p:cNvPicPr/>
          <p:nvPr/>
        </p:nvPicPr>
        <p:blipFill>
          <a:blip r:embed="rId5"/>
          <a:stretch/>
        </p:blipFill>
        <p:spPr>
          <a:xfrm>
            <a:off x="10287360" y="6096600"/>
            <a:ext cx="1519560" cy="53316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737617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11656440" cy="13233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Residual Autofluorescence peaks</a:t>
            </a:r>
            <a:b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 Single-Color Signatures</a:t>
            </a:r>
          </a:p>
        </p:txBody>
      </p:sp>
      <p:pic>
        <p:nvPicPr>
          <p:cNvPr id="130" name="Picture 129"/>
          <p:cNvPicPr/>
          <p:nvPr/>
        </p:nvPicPr>
        <p:blipFill>
          <a:blip r:embed="rId2"/>
          <a:stretch/>
        </p:blipFill>
        <p:spPr>
          <a:xfrm>
            <a:off x="228600" y="214200"/>
            <a:ext cx="1598400" cy="138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raphic 130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697760" y="182520"/>
            <a:ext cx="1415880" cy="141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Picture 26" descr="A group of images of a square&#10;&#10;AI-generated content may be incorrect."/>
          <p:cNvPicPr/>
          <p:nvPr/>
        </p:nvPicPr>
        <p:blipFill>
          <a:blip r:embed="rId4"/>
          <a:srcRect t="67054"/>
          <a:stretch/>
        </p:blipFill>
        <p:spPr>
          <a:xfrm>
            <a:off x="2347560" y="1754640"/>
            <a:ext cx="7023240" cy="335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Box 5"/>
          <p:cNvSpPr/>
          <p:nvPr/>
        </p:nvSpPr>
        <p:spPr>
          <a:xfrm>
            <a:off x="228600" y="2875320"/>
            <a:ext cx="25128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PE signature with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residual AF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8"/>
          <p:cNvSpPr/>
          <p:nvPr/>
        </p:nvSpPr>
        <p:spPr>
          <a:xfrm>
            <a:off x="9372600" y="2827800"/>
            <a:ext cx="24379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PE signature without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residual AF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228600" y="4871520"/>
            <a:ext cx="1165680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This residual autofluorescence contribution results in unmixing errors,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and the panel unmixing significantly improved when switched out for bead controls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6" name="Picture 135"/>
          <p:cNvPicPr/>
          <p:nvPr/>
        </p:nvPicPr>
        <p:blipFill>
          <a:blip r:embed="rId5"/>
          <a:stretch/>
        </p:blipFill>
        <p:spPr>
          <a:xfrm>
            <a:off x="10287360" y="6096600"/>
            <a:ext cx="1519560" cy="53316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4018583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8202A9-EBB1-5F55-1D4F-158A3427D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D71B495A-1FC6-6429-7354-0855A5E3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080"/>
            <a:ext cx="12190320" cy="65115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Autofluorescence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1CE883B1-D01B-69E6-FFEC-BC8824B6F14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67226" y="6181266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C67242-CC41-DD8A-CA95-A5E59DC9F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37"/>
          <a:stretch>
            <a:fillRect/>
          </a:stretch>
        </p:blipFill>
        <p:spPr>
          <a:xfrm>
            <a:off x="381000" y="1371600"/>
            <a:ext cx="7548807" cy="41651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7410CF-CEC1-C1AB-074E-C0ED5C5E1DD0}"/>
              </a:ext>
            </a:extLst>
          </p:cNvPr>
          <p:cNvSpPr txBox="1"/>
          <p:nvPr/>
        </p:nvSpPr>
        <p:spPr>
          <a:xfrm>
            <a:off x="8062913" y="2203758"/>
            <a:ext cx="40490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Same process to isolate autofluorescence variants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Isolate cells with same normalized signature for use in unmixing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tabLst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683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4E648C-DBDF-5F5B-60C7-726A408C9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CD9C59F7-BC70-6F74-6D18-DEB7F090F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080"/>
            <a:ext cx="12190320" cy="62829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Log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FC58672A-A7CA-E3E8-8450-F3D31B7562A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67226" y="6181266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364D7E-107B-5546-3C5C-733D1A6760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2"/>
          <a:stretch>
            <a:fillRect/>
          </a:stretch>
        </p:blipFill>
        <p:spPr>
          <a:xfrm>
            <a:off x="517613" y="1223010"/>
            <a:ext cx="5494567" cy="48348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CEDEBF-5F78-54FA-60AE-CEC7672F6EFF}"/>
              </a:ext>
            </a:extLst>
          </p:cNvPr>
          <p:cNvSpPr txBox="1"/>
          <p:nvPr/>
        </p:nvSpPr>
        <p:spPr>
          <a:xfrm>
            <a:off x="6617970" y="1524298"/>
            <a:ext cx="47891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Every time a sit-flush occurs, its recorded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Plotted over time, shows weekly usage patterns for instruments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Including “off-schedule” usage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60958-66F6-D8D3-3CED-494701AE6C3C}"/>
              </a:ext>
            </a:extLst>
          </p:cNvPr>
          <p:cNvSpPr txBox="1"/>
          <p:nvPr/>
        </p:nvSpPr>
        <p:spPr>
          <a:xfrm>
            <a:off x="6644640" y="3711238"/>
            <a:ext cx="47891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Were clean flow cells and fluidic shut-downs performed?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What software issues occurring?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How many hours has each laser been left on?</a:t>
            </a:r>
          </a:p>
        </p:txBody>
      </p:sp>
    </p:spTree>
    <p:extLst>
      <p:ext uri="{BB962C8B-B14F-4D97-AF65-F5344CB8AC3E}">
        <p14:creationId xmlns:p14="http://schemas.microsoft.com/office/powerpoint/2010/main" val="1719953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0E1A2-0C56-032D-AD64-6B6A9B626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DBC6047E-A168-395D-D660-01AA8EB4D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080"/>
            <a:ext cx="12190320" cy="65115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“Is anyone on after-me?”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B1E501D6-CEAD-5714-856A-16B803E9499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67226" y="6181266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4FB7F6-1E6D-C02F-E310-5F5C40CAA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45" y="850299"/>
            <a:ext cx="4208625" cy="56990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44F8DD-1008-ED12-5FC8-BAFBF0CF6D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86240"/>
            <a:ext cx="5040177" cy="26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2280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C17A5-D7D9-0DC4-1D34-7C20970D3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5E227AFF-744C-D42C-5668-2ADE21132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080"/>
            <a:ext cx="12190320" cy="70830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Updating Schedule to Display Monitor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2B10F3C2-396D-FE62-99F3-80844AC7CA2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67226" y="6181266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C8B367-55BF-BF5D-6291-405BB87FD9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928" y="829908"/>
            <a:ext cx="4154632" cy="53765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EE6CE6-9D80-A3B4-6D0F-969115754671}"/>
              </a:ext>
            </a:extLst>
          </p:cNvPr>
          <p:cNvSpPr txBox="1"/>
          <p:nvPr/>
        </p:nvSpPr>
        <p:spPr>
          <a:xfrm>
            <a:off x="6290310" y="1375708"/>
            <a:ext cx="478917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Displayed on a monitor to a Raspberry Pi 4b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Cycles continuously through all the instrument schedules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Refreshes every 15 minutes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Sends booking data to GitHub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Currently working on identifying late evening cancellations and sending emails to power down the instrument</a:t>
            </a:r>
          </a:p>
        </p:txBody>
      </p:sp>
    </p:spTree>
    <p:extLst>
      <p:ext uri="{BB962C8B-B14F-4D97-AF65-F5344CB8AC3E}">
        <p14:creationId xmlns:p14="http://schemas.microsoft.com/office/powerpoint/2010/main" val="28759106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5EE58-2903-3F80-667E-D069C1E3F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B5CAFAC8-48D1-AC26-198E-FF3012BF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080"/>
            <a:ext cx="12190320" cy="70830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have we learned?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B32918CA-7A37-D205-2243-920587F97BF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67226" y="6181266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AC8F57-FB01-8E9D-CF78-B241E0F04E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993" y="834390"/>
            <a:ext cx="3999393" cy="53263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4D3162-7CA3-D3BD-DD26-946723693FA9}"/>
              </a:ext>
            </a:extLst>
          </p:cNvPr>
          <p:cNvSpPr txBox="1"/>
          <p:nvPr/>
        </p:nvSpPr>
        <p:spPr>
          <a:xfrm>
            <a:off x="6096000" y="1143982"/>
            <a:ext cx="56540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Small steps, sequentially implemented, have improved our awareness over time.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With </a:t>
            </a:r>
            <a:r>
              <a:rPr lang="en-US" sz="2400" u="sng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most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instruments, useful information can be retrieved from unlikely sources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tabLst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Repurposing existing open-source software infrastructure speeds things up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tabLst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Set up for generalization requires additional planning</a:t>
            </a:r>
          </a:p>
        </p:txBody>
      </p:sp>
    </p:spTree>
    <p:extLst>
      <p:ext uri="{BB962C8B-B14F-4D97-AF65-F5344CB8AC3E}">
        <p14:creationId xmlns:p14="http://schemas.microsoft.com/office/powerpoint/2010/main" val="343617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3ED694-994C-9CCB-2085-FC8BEB3EF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89AE0619-F70A-FD85-736C-99E5BD401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080"/>
            <a:ext cx="12190320" cy="6625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832B2026-071A-3B06-4212-D822625FF88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67226" y="6181266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0C35F6-FE95-B1F6-E897-C2D2598C62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720" y="841374"/>
            <a:ext cx="8843010" cy="515842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29EF026-D6C9-A55A-A554-F856B42F132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228600" y="1668780"/>
            <a:ext cx="1977390" cy="14586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AD3F7C8-1404-1956-9175-821B1A7CC6B5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82930" y="3931920"/>
            <a:ext cx="1360170" cy="11979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>
            <a:extLst>
              <a:ext uri="{FF2B5EF4-FFF2-40B4-BE49-F238E27FC236}">
                <a16:creationId xmlns:a16="http://schemas.microsoft.com/office/drawing/2014/main" id="{4D10DDCE-05EB-0663-1B58-15806B95AF0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17170" y="5314950"/>
            <a:ext cx="1554480" cy="10515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 anchorCtr="1">
            <a:normAutofit/>
          </a:bodyPr>
          <a:lstStyle/>
          <a:p>
            <a:pPr marL="432000" indent="0" algn="ctr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Website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B93925-3D4C-B2D1-FC24-22CC03A37C35}"/>
              </a:ext>
            </a:extLst>
          </p:cNvPr>
          <p:cNvSpPr txBox="1"/>
          <p:nvPr/>
        </p:nvSpPr>
        <p:spPr>
          <a:xfrm>
            <a:off x="594360" y="111175"/>
            <a:ext cx="109613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Learn R at your own pace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3194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3886200" y="46080"/>
            <a:ext cx="4569840" cy="13233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sng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0" y="1371600"/>
            <a:ext cx="3655440" cy="18266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1" u="sng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UMGCCC FCSR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indent="0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Dr. Xiaoxuan Fan</a:t>
            </a:r>
          </a:p>
          <a:p>
            <a:pPr marL="432000" indent="0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Dr. Natarajan Ayithan</a:t>
            </a:r>
          </a:p>
          <a:p>
            <a:pPr marL="432000" indent="0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bg2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Mikayla Trainor</a:t>
            </a:r>
          </a:p>
          <a:p>
            <a:pPr marL="432000" indent="0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indent="0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indent="0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indent="0">
              <a:lnSpc>
                <a:spcPts val="72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Picture 181"/>
          <p:cNvPicPr/>
          <p:nvPr/>
        </p:nvPicPr>
        <p:blipFill>
          <a:blip r:embed="rId2"/>
          <a:stretch/>
        </p:blipFill>
        <p:spPr>
          <a:xfrm>
            <a:off x="4644000" y="1143000"/>
            <a:ext cx="2970000" cy="217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Graphic 18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28600" y="204480"/>
            <a:ext cx="2969640" cy="77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Picture 183"/>
          <p:cNvPicPr/>
          <p:nvPr/>
        </p:nvPicPr>
        <p:blipFill>
          <a:blip r:embed="rId4"/>
          <a:stretch/>
        </p:blipFill>
        <p:spPr>
          <a:xfrm>
            <a:off x="9372600" y="63000"/>
            <a:ext cx="2741040" cy="107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Content Placeholder 17"/>
          <p:cNvSpPr/>
          <p:nvPr/>
        </p:nvSpPr>
        <p:spPr>
          <a:xfrm>
            <a:off x="320040" y="2711205"/>
            <a:ext cx="3655440" cy="1206990"/>
          </a:xfrm>
          <a:prstGeom prst="rect">
            <a:avLst/>
          </a:prstGeom>
          <a:noFill/>
          <a:ln w="190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108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b="1" u="sng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University of Maryland School of Medicine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000">
              <a:lnSpc>
                <a:spcPts val="72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Dr. Cristiana Cairo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000">
              <a:lnSpc>
                <a:spcPts val="72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Dr. Kirsten E. Lyke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720"/>
              </a:lnSpc>
              <a:spcBef>
                <a:spcPts val="1417"/>
              </a:spcBef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720"/>
              </a:lnSpc>
              <a:spcBef>
                <a:spcPts val="1417"/>
              </a:spcBef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720"/>
              </a:lnSpc>
              <a:spcBef>
                <a:spcPts val="1417"/>
              </a:spcBef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720"/>
              </a:lnSpc>
              <a:spcBef>
                <a:spcPts val="1417"/>
              </a:spcBef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Content Placeholder 18"/>
          <p:cNvSpPr/>
          <p:nvPr/>
        </p:nvSpPr>
        <p:spPr>
          <a:xfrm>
            <a:off x="365760" y="4817160"/>
            <a:ext cx="3977640" cy="1826640"/>
          </a:xfrm>
          <a:prstGeom prst="rect">
            <a:avLst/>
          </a:prstGeom>
          <a:noFill/>
          <a:ln w="190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rmAutofit/>
          </a:bodyPr>
          <a:lstStyle/>
          <a:p>
            <a:pPr marL="108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b="1" u="sng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Molecular Microbiology Immunology Graduate Program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000">
              <a:lnSpc>
                <a:spcPts val="72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Dr. Eileen Barry</a:t>
            </a:r>
          </a:p>
          <a:p>
            <a:pPr marL="108000">
              <a:lnSpc>
                <a:spcPts val="72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Heather Ezelle</a:t>
            </a:r>
            <a:endParaRPr lang="en-US" sz="1800" b="0" u="none" strike="noStrike" dirty="0">
              <a:solidFill>
                <a:schemeClr val="bg2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000">
              <a:lnSpc>
                <a:spcPts val="72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Bess Tracey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ts val="720"/>
              </a:lnSpc>
              <a:spcBef>
                <a:spcPts val="1417"/>
              </a:spcBef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ts val="720"/>
              </a:lnSpc>
              <a:spcBef>
                <a:spcPts val="1417"/>
              </a:spcBef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720"/>
              </a:lnSpc>
              <a:spcBef>
                <a:spcPts val="1417"/>
              </a:spcBef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720"/>
              </a:lnSpc>
              <a:spcBef>
                <a:spcPts val="1417"/>
              </a:spcBef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720"/>
              </a:lnSpc>
              <a:spcBef>
                <a:spcPts val="1417"/>
              </a:spcBef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720"/>
              </a:lnSpc>
              <a:spcBef>
                <a:spcPts val="1417"/>
              </a:spcBef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720"/>
              </a:lnSpc>
              <a:spcBef>
                <a:spcPts val="1417"/>
              </a:spcBef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Picture 27" descr="A picture containing text, person, indoor, working&#10;&#10;Description automatically generated"/>
          <p:cNvPicPr/>
          <p:nvPr/>
        </p:nvPicPr>
        <p:blipFill>
          <a:blip r:embed="rId5"/>
          <a:stretch/>
        </p:blipFill>
        <p:spPr>
          <a:xfrm>
            <a:off x="4644000" y="3348000"/>
            <a:ext cx="2970000" cy="22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Rectangle 187"/>
          <p:cNvSpPr/>
          <p:nvPr/>
        </p:nvSpPr>
        <p:spPr>
          <a:xfrm>
            <a:off x="422910" y="3978900"/>
            <a:ext cx="226314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u="sng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PIN: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Daniela Franco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8441370" y="3314700"/>
            <a:ext cx="29543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Cytometry Discord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8069580" y="3915360"/>
            <a:ext cx="384048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This publication was supported by funds through Maryland Department of Health’s Cigarette Restitution Fund Program – CH- 649-CRF and the National Cancer Institute – Cancer Center Support Grant (CCSG) – P30CA134274.d Service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Picture 195"/>
          <p:cNvPicPr/>
          <p:nvPr/>
        </p:nvPicPr>
        <p:blipFill>
          <a:blip r:embed="rId6"/>
          <a:stretch/>
        </p:blipFill>
        <p:spPr>
          <a:xfrm>
            <a:off x="4911420" y="5903100"/>
            <a:ext cx="2369160" cy="427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Picture 196"/>
          <p:cNvPicPr/>
          <p:nvPr/>
        </p:nvPicPr>
        <p:blipFill>
          <a:blip r:embed="rId7"/>
          <a:stretch/>
        </p:blipFill>
        <p:spPr>
          <a:xfrm>
            <a:off x="4960620" y="6320790"/>
            <a:ext cx="1987920" cy="40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Picture 197"/>
          <p:cNvPicPr/>
          <p:nvPr/>
        </p:nvPicPr>
        <p:blipFill>
          <a:blip r:embed="rId8"/>
          <a:stretch/>
        </p:blipFill>
        <p:spPr>
          <a:xfrm>
            <a:off x="10287360" y="6096600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A05C24-6B7E-A24A-0E36-D29C514BFBB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775" y="1553730"/>
            <a:ext cx="1616425" cy="161237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143000" y="-182520"/>
            <a:ext cx="10056240" cy="13233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457200" y="2683800"/>
            <a:ext cx="296964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UMGCCC FCSR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InstrumentQC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dashboard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Rectangle 200"/>
          <p:cNvSpPr/>
          <p:nvPr/>
        </p:nvSpPr>
        <p:spPr>
          <a:xfrm>
            <a:off x="8915400" y="5149800"/>
            <a:ext cx="29696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YouTube </a:t>
            </a:r>
            <a:r>
              <a:rPr lang="en-US" sz="18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@CytometryInR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" name="Rectangle 201"/>
          <p:cNvSpPr/>
          <p:nvPr/>
        </p:nvSpPr>
        <p:spPr>
          <a:xfrm>
            <a:off x="8915400" y="2683800"/>
            <a:ext cx="29696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Website -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CytometryInR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4800600" y="2683800"/>
            <a:ext cx="29696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Luciernaga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Rectangle 203"/>
          <p:cNvSpPr/>
          <p:nvPr/>
        </p:nvSpPr>
        <p:spPr>
          <a:xfrm>
            <a:off x="4800600" y="5149800"/>
            <a:ext cx="29696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Coereba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Rectangle 204"/>
          <p:cNvSpPr/>
          <p:nvPr/>
        </p:nvSpPr>
        <p:spPr>
          <a:xfrm>
            <a:off x="457200" y="4921200"/>
            <a:ext cx="296964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InstrumentQC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How-To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6" name="Picture 205"/>
          <p:cNvPicPr/>
          <p:nvPr/>
        </p:nvPicPr>
        <p:blipFill>
          <a:blip r:embed="rId2"/>
          <a:stretch/>
        </p:blipFill>
        <p:spPr>
          <a:xfrm>
            <a:off x="7947000" y="3470400"/>
            <a:ext cx="2109240" cy="159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Picture 206"/>
          <p:cNvPicPr/>
          <p:nvPr/>
        </p:nvPicPr>
        <p:blipFill>
          <a:blip r:embed="rId3"/>
          <a:stretch/>
        </p:blipFill>
        <p:spPr>
          <a:xfrm>
            <a:off x="4095720" y="3488400"/>
            <a:ext cx="1845720" cy="159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Picture 207"/>
          <p:cNvPicPr/>
          <p:nvPr/>
        </p:nvPicPr>
        <p:blipFill>
          <a:blip r:embed="rId4"/>
          <a:stretch/>
        </p:blipFill>
        <p:spPr>
          <a:xfrm>
            <a:off x="457200" y="3565440"/>
            <a:ext cx="1369440" cy="158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Picture 208"/>
          <p:cNvPicPr/>
          <p:nvPr/>
        </p:nvPicPr>
        <p:blipFill>
          <a:blip r:embed="rId5"/>
          <a:stretch/>
        </p:blipFill>
        <p:spPr>
          <a:xfrm>
            <a:off x="4132080" y="963000"/>
            <a:ext cx="1845360" cy="159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Picture 209"/>
          <p:cNvPicPr/>
          <p:nvPr/>
        </p:nvPicPr>
        <p:blipFill>
          <a:blip r:embed="rId6"/>
          <a:srcRect l="33723" t="6681" r="35970"/>
          <a:stretch/>
        </p:blipFill>
        <p:spPr>
          <a:xfrm rot="24000">
            <a:off x="90720" y="1087920"/>
            <a:ext cx="1956600" cy="158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Picture 210"/>
          <p:cNvPicPr/>
          <p:nvPr/>
        </p:nvPicPr>
        <p:blipFill>
          <a:blip r:embed="rId2"/>
          <a:stretch/>
        </p:blipFill>
        <p:spPr>
          <a:xfrm>
            <a:off x="7947000" y="855000"/>
            <a:ext cx="2109240" cy="159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Graphic 211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064200" y="3321000"/>
            <a:ext cx="1826640" cy="182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Graphic 21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0058400" y="3321000"/>
            <a:ext cx="1826640" cy="182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Graphic 21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6064200" y="819000"/>
            <a:ext cx="1826640" cy="182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Graphic 21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2021400" y="855000"/>
            <a:ext cx="1826640" cy="182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Graphic 215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2057400" y="3429000"/>
            <a:ext cx="1690920" cy="169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Graphic 21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0058400" y="855000"/>
            <a:ext cx="1826640" cy="182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Picture 217"/>
          <p:cNvPicPr/>
          <p:nvPr/>
        </p:nvPicPr>
        <p:blipFill>
          <a:blip r:embed="rId13"/>
          <a:stretch/>
        </p:blipFill>
        <p:spPr>
          <a:xfrm>
            <a:off x="10287360" y="6096600"/>
            <a:ext cx="1519560" cy="533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0C20DBC-C6FA-3468-7992-3C6962565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34319"/>
            <a:ext cx="4413981" cy="59607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F1934C-D2A8-4888-C286-3A095BC32DCF}"/>
              </a:ext>
            </a:extLst>
          </p:cNvPr>
          <p:cNvSpPr txBox="1"/>
          <p:nvPr/>
        </p:nvSpPr>
        <p:spPr>
          <a:xfrm>
            <a:off x="575310" y="2613451"/>
            <a:ext cx="465963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Graduate Next Week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tabLst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All coding side-projects will then resume post-defense</a:t>
            </a:r>
          </a:p>
        </p:txBody>
      </p:sp>
    </p:spTree>
    <p:extLst>
      <p:ext uri="{BB962C8B-B14F-4D97-AF65-F5344CB8AC3E}">
        <p14:creationId xmlns:p14="http://schemas.microsoft.com/office/powerpoint/2010/main" val="6571762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86BCC-41AA-AA70-26D4-6F9808321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EDE43DD1-790B-B319-F7F0-5A8C2DDFF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080"/>
            <a:ext cx="12190320" cy="65115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 from iLab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A99F665C-1830-ADF4-D2E0-86609BF03A6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67226" y="6181266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9C94601-A094-6D5F-F4C9-3DC05B9CBD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024" y="1122676"/>
            <a:ext cx="7139951" cy="475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975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E0D13-D983-9C19-5666-38857949B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440287DC-E55C-5130-7AAC-49AFB6D5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080"/>
            <a:ext cx="12190320" cy="65115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Instrument Use over Time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18A5A609-30AD-A4FC-F18A-80E779F60C7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67226" y="6181266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709EBC-418C-800B-508F-DD9E5BDE2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" y="942338"/>
            <a:ext cx="5088467" cy="5088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D33D51-CA30-B13C-1439-AE00B71B97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33400"/>
            <a:ext cx="56388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003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96DF3-780A-3AE3-23F2-2E6B74288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6330FE5D-2C29-7FE0-D35A-CA4140A52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080"/>
            <a:ext cx="12190320" cy="65115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When did individual users or labs use the instruments?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FB43C625-55BF-B375-F5AD-67B8E0B794F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067226" y="6181266"/>
            <a:ext cx="15195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D3146C-8A0D-3233-8F5D-631DEDFFA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0" y="2427688"/>
            <a:ext cx="5474970" cy="28733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DB8876-C3DD-1056-4A72-838804F9D0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4" r="2267"/>
          <a:stretch>
            <a:fillRect/>
          </a:stretch>
        </p:blipFill>
        <p:spPr>
          <a:xfrm>
            <a:off x="6343650" y="1309271"/>
            <a:ext cx="4766310" cy="38355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EFF29A-5892-D18C-5AFC-D559885E69AA}"/>
              </a:ext>
            </a:extLst>
          </p:cNvPr>
          <p:cNvSpPr txBox="1"/>
          <p:nvPr/>
        </p:nvSpPr>
        <p:spPr>
          <a:xfrm>
            <a:off x="4089083" y="5221278"/>
            <a:ext cx="18087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David Rach 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C7161A-3570-E155-0809-07DD070A0D70}"/>
              </a:ext>
            </a:extLst>
          </p:cNvPr>
          <p:cNvSpPr txBox="1"/>
          <p:nvPr/>
        </p:nvSpPr>
        <p:spPr>
          <a:xfrm>
            <a:off x="9590723" y="5225088"/>
            <a:ext cx="18087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Cairo Lab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4056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590</TotalTime>
  <Words>969</Words>
  <Application>Microsoft Office PowerPoint</Application>
  <PresentationFormat>Widescreen</PresentationFormat>
  <Paragraphs>220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Aptos</vt:lpstr>
      <vt:lpstr>Arial</vt:lpstr>
      <vt:lpstr>Symbol</vt:lpstr>
      <vt:lpstr>Times New Roman</vt:lpstr>
      <vt:lpstr>Wingdings</vt:lpstr>
      <vt:lpstr>Office</vt:lpstr>
      <vt:lpstr>Office</vt:lpstr>
      <vt:lpstr>Office</vt:lpstr>
      <vt:lpstr>Everything, Everywhere, All at Once: Open-source Automation for Situational Awareness in Shared Resource Laboratories   </vt:lpstr>
      <vt:lpstr>On a good day at a small SRL</vt:lpstr>
      <vt:lpstr>However, on a bad day at a small SRL…</vt:lpstr>
      <vt:lpstr>New Goal for the Day: Simply Survive</vt:lpstr>
      <vt:lpstr>Visible and Hidden Costs</vt:lpstr>
      <vt:lpstr>Are you treading water or drowning? </vt:lpstr>
      <vt:lpstr>Can we anticipate the waves?</vt:lpstr>
      <vt:lpstr>UMGCCC Flow Cytometry Shared Resource</vt:lpstr>
      <vt:lpstr>Our Goals</vt:lpstr>
      <vt:lpstr>What data is already sitting around?</vt:lpstr>
      <vt:lpstr>Automated Daily Processing</vt:lpstr>
      <vt:lpstr>Instrument Quality Control Dashboard</vt:lpstr>
      <vt:lpstr>Instrument Quality Control Dashboard</vt:lpstr>
      <vt:lpstr>Instrument Stability over Time</vt:lpstr>
      <vt:lpstr>Early warning on Lasers/Detectors</vt:lpstr>
      <vt:lpstr>Front row seats to Bleach-Sensitive QC Bead Lots</vt:lpstr>
      <vt:lpstr>Beyond .fcs files, what else can we leverage?</vt:lpstr>
      <vt:lpstr>SpectroFlo .Expt Files</vt:lpstr>
      <vt:lpstr> </vt:lpstr>
      <vt:lpstr> </vt:lpstr>
      <vt:lpstr> </vt:lpstr>
      <vt:lpstr> </vt:lpstr>
      <vt:lpstr> </vt:lpstr>
      <vt:lpstr>Evaluating Unmixing Controls</vt:lpstr>
      <vt:lpstr>When PerCP-Cy5.5 degrades</vt:lpstr>
      <vt:lpstr>When antibody vials are in good condition</vt:lpstr>
      <vt:lpstr>When the tandem starts degrading</vt:lpstr>
      <vt:lpstr>Residual Autofluorescence peaks in Single-Color Signatures</vt:lpstr>
      <vt:lpstr>Residual Autofluorescence peaks in Single-Color Signatures</vt:lpstr>
      <vt:lpstr>Residual Autofluorescence peaks in Single-Color Signatures</vt:lpstr>
      <vt:lpstr>Autofluorescence </vt:lpstr>
      <vt:lpstr>Application Log</vt:lpstr>
      <vt:lpstr>“Is anyone on after-me?”</vt:lpstr>
      <vt:lpstr>Updating Schedule to Display Monitor</vt:lpstr>
      <vt:lpstr>What have we learned?</vt:lpstr>
      <vt:lpstr> </vt:lpstr>
      <vt:lpstr>Acknowledgements</vt:lpstr>
      <vt:lpstr>Questions?</vt:lpstr>
      <vt:lpstr>PowerPoint Presentation</vt:lpstr>
      <vt:lpstr>Metrics from iLab</vt:lpstr>
      <vt:lpstr>Instrument Use over Time</vt:lpstr>
      <vt:lpstr>When did individual users or labs use the instruments?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Thomas Evans</dc:creator>
  <dc:description/>
  <cp:lastModifiedBy>Rach, David</cp:lastModifiedBy>
  <cp:revision>48</cp:revision>
  <dcterms:created xsi:type="dcterms:W3CDTF">2025-07-21T11:58:18Z</dcterms:created>
  <dcterms:modified xsi:type="dcterms:W3CDTF">2026-06-07T11:12:15Z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0x010100804A9A38EF1C6344A4E9D5FEC9AF05B5</vt:lpwstr>
  </property>
  <property fmtid="{D5CDD505-2E9C-101B-9397-08002B2CF9AE}" pid="3" name="_dlc_DocIdItemGuid">
    <vt:lpwstr>4d3e5825-e8bc-4995-b9ad-4f8ee15e5c87</vt:lpwstr>
  </property>
</Properties>
</file>