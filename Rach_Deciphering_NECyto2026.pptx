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7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7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18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9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57.png" ContentType="image/png"/>
  <Override PartName="/ppt/media/image56.png" ContentType="image/png"/>
  <Override PartName="/ppt/media/image55.png" ContentType="image/png"/>
  <Override PartName="/ppt/media/image34.jpeg" ContentType="image/jpeg"/>
  <Override PartName="/ppt/media/image54.jpeg" ContentType="image/jpeg"/>
  <Override PartName="/ppt/media/image53.svg" ContentType="image/svg"/>
  <Override PartName="/ppt/media/image52.png" ContentType="image/png"/>
  <Override PartName="/ppt/media/image51.svg" ContentType="image/svg"/>
  <Override PartName="/ppt/media/image3.svg" ContentType="image/svg"/>
  <Override PartName="/ppt/media/image48.png" ContentType="image/png"/>
  <Override PartName="/ppt/media/image2.png" ContentType="image/png"/>
  <Override PartName="/ppt/media/image28.png" ContentType="image/png"/>
  <Override PartName="/ppt/media/image7.jpeg" ContentType="image/jpeg"/>
  <Override PartName="/ppt/media/image16.png" ContentType="image/png"/>
  <Override PartName="/ppt/media/image27.svg" ContentType="image/svg"/>
  <Override PartName="/ppt/media/image41.png" ContentType="image/png"/>
  <Override PartName="/ppt/media/image33.png" ContentType="image/png"/>
  <Override PartName="/ppt/media/image20.svg" ContentType="image/svg"/>
  <Override PartName="/ppt/media/image22.png" ContentType="image/png"/>
  <Override PartName="/ppt/media/image59.png" ContentType="image/png"/>
  <Override PartName="/ppt/media/image63.svg" ContentType="image/svg"/>
  <Override PartName="/ppt/media/image64.png" ContentType="image/png"/>
  <Override PartName="/ppt/media/image61.svg" ContentType="image/svg"/>
  <Override PartName="/ppt/media/image66.png" ContentType="image/png"/>
  <Override PartName="/ppt/media/image29.png" ContentType="image/png"/>
  <Override PartName="/ppt/media/image58.png" ContentType="image/png"/>
  <Override PartName="/ppt/media/image65.svg" ContentType="image/svg"/>
  <Override PartName="/ppt/media/image21.png" ContentType="image/png"/>
  <Override PartName="/ppt/media/image60.png" ContentType="image/png"/>
  <Override PartName="/ppt/media/image62.png" ContentType="image/png"/>
  <Override PartName="/ppt/media/image25.png" ContentType="image/png"/>
  <Override PartName="/ppt/media/image26.png" ContentType="image/png"/>
  <Override PartName="/ppt/media/image11.svg" ContentType="image/svg"/>
  <Override PartName="/ppt/media/image24.png" ContentType="image/png"/>
  <Override PartName="/ppt/media/image19.png" ContentType="image/png"/>
  <Override PartName="/ppt/media/image23.png" ContentType="image/png"/>
  <Override PartName="/ppt/media/image67.svg" ContentType="image/svg"/>
  <Override PartName="/ppt/media/image43.png" ContentType="image/png"/>
  <Override PartName="/ppt/media/image15.png" ContentType="image/png"/>
  <Override PartName="/ppt/media/image6.png" ContentType="image/png"/>
  <Override PartName="/ppt/media/image38.png" ContentType="image/png"/>
  <Override PartName="/ppt/media/image1.png" ContentType="image/png"/>
  <Override PartName="/ppt/media/image10.png" ContentType="image/png"/>
  <Override PartName="/ppt/media/image14.png" ContentType="image/png"/>
  <Override PartName="/ppt/media/image5.png" ContentType="image/png"/>
  <Override PartName="/ppt/media/image37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49.png" ContentType="image/png"/>
  <Override PartName="/ppt/media/image18.png" ContentType="image/png"/>
  <Override PartName="/ppt/media/image9.png" ContentType="image/png"/>
  <Override PartName="/ppt/media/image36.png" ContentType="image/png"/>
  <Override PartName="/ppt/media/image4.png" ContentType="image/png"/>
  <Override PartName="/ppt/media/image13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46.jpeg" ContentType="image/jpeg"/>
  <Override PartName="/ppt/media/image35.png" ContentType="image/png"/>
  <Override PartName="/ppt/media/image39.png" ContentType="image/png"/>
  <Override PartName="/ppt/media/image40.svg" ContentType="image/svg"/>
  <Override PartName="/ppt/media/image42.png" ContentType="image/png"/>
  <Override PartName="/ppt/media/image47.jpeg" ContentType="image/jpeg"/>
  <Override PartName="/ppt/media/image44.png" ContentType="image/png"/>
  <Override PartName="/ppt/media/image45.png" ContentType="image/png"/>
  <Override PartName="/ppt/media/image50.png" ContentType="image/png"/>
  <Override PartName="/ppt/slides/_rels/slide27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28.xml.rels" ContentType="application/vnd.openxmlformats-package.relationships+xml"/>
  <Override PartName="/ppt/slides/_rels/slide30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29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1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slide29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12.xml" ContentType="application/vnd.openxmlformats-officedocument.presentationml.slide+xml"/>
  <Override PartName="/ppt/slides/slide24.xml" ContentType="application/vnd.openxmlformats-officedocument.presentationml.slide+xml"/>
  <Override PartName="/ppt/slides/slide5.xml" ContentType="application/vnd.openxmlformats-officedocument.presentationml.slide+xml"/>
  <Override PartName="/ppt/slides/slide13.xml" ContentType="application/vnd.openxmlformats-officedocument.presentationml.slide+xml"/>
  <Override PartName="/ppt/slides/slide25.xml" ContentType="application/vnd.openxmlformats-officedocument.presentationml.slide+xml"/>
  <Override PartName="/ppt/slides/slide30.xml" ContentType="application/vnd.openxmlformats-officedocument.presentationml.slide+xml"/>
  <Override PartName="/ppt/slides/slide28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Slides/_rels/notesSlide29.xml.rels" ContentType="application/vnd.openxmlformats-package.relationships+xml"/>
  <Override PartName="/ppt/notesSlides/notesSlide2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3" r:id="rId4"/>
    <p:sldMasterId id="2147483658" r:id="rId5"/>
    <p:sldMasterId id="2147483668" r:id="rId6"/>
    <p:sldMasterId id="2147483670" r:id="rId7"/>
    <p:sldMasterId id="2147483672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8.xml"/><Relationship Id="rId6" Type="http://schemas.openxmlformats.org/officeDocument/2006/relationships/slideMaster" Target="slideMasters/slideMaster15.xml"/><Relationship Id="rId7" Type="http://schemas.openxmlformats.org/officeDocument/2006/relationships/slideMaster" Target="slideMasters/slideMaster16.xml"/><Relationship Id="rId8" Type="http://schemas.openxmlformats.org/officeDocument/2006/relationships/slideMaster" Target="slideMasters/slideMaster17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dt" idx="58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ftr" idx="59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PlaceHolder 6"/>
          <p:cNvSpPr>
            <a:spLocks noGrp="1"/>
          </p:cNvSpPr>
          <p:nvPr>
            <p:ph type="sldNum" idx="60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EE806FB-9FC1-4673-B516-5F583121B568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3880" cy="338544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07840" cy="395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61"/>
          </p:nvPr>
        </p:nvSpPr>
        <p:spPr>
          <a:xfrm>
            <a:off x="4402080" y="9553680"/>
            <a:ext cx="3359880" cy="49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90F0E07-1828-4E1A-8AC7-B33EEBC8D365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30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Office-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/>
          </p:nvPr>
        </p:nvSpPr>
        <p:spPr>
          <a:xfrm>
            <a:off x="625680" y="160452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/>
          </p:nvPr>
        </p:nvSpPr>
        <p:spPr>
          <a:xfrm>
            <a:off x="609480" y="160848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/>
          </p:nvPr>
        </p:nvSpPr>
        <p:spPr>
          <a:xfrm>
            <a:off x="625680" y="1608480"/>
            <a:ext cx="15120" cy="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BC4A44-D96C-4987-8C0F-83881D6E5CA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Master1-Layout1-title-Title-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0984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48520" cy="18910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48520" cy="18910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48520" cy="18910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48520" cy="18910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090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5CD668-F037-471E-ABB9-1AA4DE08C31C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889920"/>
            <a:ext cx="10509840" cy="2746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ctr">
            <a:sp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27280" cy="18910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27280" cy="18910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27280" cy="18910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27280" cy="18910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27280" cy="18910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27280" cy="1891080"/>
          </a:xfrm>
          <a:prstGeom prst="rect">
            <a:avLst/>
          </a:prstGeom>
          <a:noFill/>
          <a:ln w="1908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090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82157C-A0DB-419E-9E32-8032154FB6ED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68040" cy="1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090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98B56C-89E5-4BAC-BAE3-AE2AFCBFCB3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090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CF2A69-60AE-4668-8135-0C6FF5594B10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8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090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FBBE0C0-17F5-4ED4-8E74-342A5963AA0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88812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646200" y="160452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609480" y="161604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body"/>
          </p:nvPr>
        </p:nvSpPr>
        <p:spPr>
          <a:xfrm>
            <a:off x="646200" y="161604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090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7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99A43B-BAB3-442C-9193-F7A8BDD0033F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8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aster1-Layout2-obj-Title-and-Content_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4040" cy="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054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72AD88-C75A-48F9-9A3E-3EEDE4826E24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054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612D34-F08A-403A-846E-4BEC741DFB84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054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6DC90B-4828-4524-A7B4-DFC9D31F7B9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8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6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054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7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C665FB-3DB6-4DBD-BF74-B569D83D12D2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PlaceHolder 8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054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D6F1B0-0C52-4459-B2CE-3795B912F4A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8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6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054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7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E427F6-A4E4-4D40-8712-2806B2D39415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8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054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A8F33C-077B-4336-9A17-8D47E533BAAC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6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054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PlaceHolder 7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0CB414C-4064-436C-B993-901583A10C77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PlaceHolder 8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838080" y="88740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body"/>
          </p:nvPr>
        </p:nvSpPr>
        <p:spPr>
          <a:xfrm>
            <a:off x="61776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body"/>
          </p:nvPr>
        </p:nvSpPr>
        <p:spPr>
          <a:xfrm>
            <a:off x="60948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5"/>
          <p:cNvSpPr>
            <a:spLocks noGrp="1"/>
          </p:cNvSpPr>
          <p:nvPr>
            <p:ph type="body"/>
          </p:nvPr>
        </p:nvSpPr>
        <p:spPr>
          <a:xfrm>
            <a:off x="617760" y="16063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6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054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3" name="PlaceHolder 7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5CF4A0-3BBE-49FF-8B4C-420BC026DC59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8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subTitle"/>
          </p:nvPr>
        </p:nvSpPr>
        <p:spPr>
          <a:xfrm>
            <a:off x="609480" y="-2266200"/>
            <a:ext cx="3132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2028B085-8744-46B8-8EC1-45F03EDA3E6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1320" cy="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05142946-308B-481D-A581-C09A955CB8C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5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838080" y="712800"/>
            <a:ext cx="1050984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subTitle"/>
          </p:nvPr>
        </p:nvSpPr>
        <p:spPr>
          <a:xfrm>
            <a:off x="609480" y="-2266200"/>
            <a:ext cx="31320" cy="7748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0D8A31D0-5010-4CD9-96C5-F5082D07012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6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17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18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19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25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12720" y="1604520"/>
            <a:ext cx="25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609480" y="1604880"/>
            <a:ext cx="25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12720" y="1604880"/>
            <a:ext cx="252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090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A3CC61-F555-4A36-9E95-C62F69432A5A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8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37440" cy="3592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  <p:sldLayoutId id="2147483655" r:id="rId3"/>
    <p:sldLayoutId id="2147483656" r:id="rId4"/>
    <p:sldLayoutId id="2147483657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ftr" idx="49"/>
          </p:nvPr>
        </p:nvSpPr>
        <p:spPr>
          <a:xfrm>
            <a:off x="3447360" y="5165280"/>
            <a:ext cx="3187800" cy="38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50"/>
          </p:nvPr>
        </p:nvSpPr>
        <p:spPr>
          <a:xfrm>
            <a:off x="7227360" y="5165280"/>
            <a:ext cx="2341080" cy="38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50A7D1-F361-48FE-BF02-C3BDB07018BD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dt" idx="51"/>
          </p:nvPr>
        </p:nvSpPr>
        <p:spPr>
          <a:xfrm>
            <a:off x="504000" y="5165280"/>
            <a:ext cx="2341080" cy="38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760" cy="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054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AB6925-A7C6-4799-BE13-220511E688C6}" type="slidenum">
              <a:rPr b="0" lang="en-US" sz="1200" strike="noStrike" u="none">
                <a:solidFill>
                  <a:srgbClr val="767676"/>
                </a:solidFill>
                <a:effectLst/>
                <a:uFillTx/>
                <a:latin typeface="Aptos"/>
                <a:ea typeface="DejaVu Sans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33840" cy="355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38080" y="887040"/>
            <a:ext cx="1050984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ftr" idx="55"/>
          </p:nvPr>
        </p:nvSpPr>
        <p:spPr>
          <a:xfrm>
            <a:off x="3447360" y="5165280"/>
            <a:ext cx="3188880" cy="38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56"/>
          </p:nvPr>
        </p:nvSpPr>
        <p:spPr>
          <a:xfrm>
            <a:off x="7227360" y="5165280"/>
            <a:ext cx="2342160" cy="38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37B82BB-D9F9-4CE9-B5D4-970318189B6B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 type="dt" idx="57"/>
          </p:nvPr>
        </p:nvSpPr>
        <p:spPr>
          <a:xfrm>
            <a:off x="504000" y="5165280"/>
            <a:ext cx="2342160" cy="38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svg"/><Relationship Id="rId6" Type="http://schemas.openxmlformats.org/officeDocument/2006/relationships/slideLayout" Target="../slideLayouts/slideLayout1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slideLayout" Target="../slideLayouts/slideLayout1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7.png"/><Relationship Id="rId3" Type="http://schemas.openxmlformats.org/officeDocument/2006/relationships/image" Target="../media/image14.png"/><Relationship Id="rId4" Type="http://schemas.openxmlformats.org/officeDocument/2006/relationships/slideLayout" Target="../slideLayouts/slideLayout1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svg"/><Relationship Id="rId5" Type="http://schemas.openxmlformats.org/officeDocument/2006/relationships/image" Target="../media/image21.png"/><Relationship Id="rId6" Type="http://schemas.openxmlformats.org/officeDocument/2006/relationships/slideLayout" Target="../slideLayouts/slideLayout1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slideLayout" Target="../slideLayouts/slideLayout1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sv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6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sv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sv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6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6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33.png"/><Relationship Id="rId6" Type="http://schemas.openxmlformats.org/officeDocument/2006/relationships/slideLayout" Target="../slideLayouts/slideLayout1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9.png"/><Relationship Id="rId3" Type="http://schemas.openxmlformats.org/officeDocument/2006/relationships/image" Target="../media/image34.jpeg"/><Relationship Id="rId4" Type="http://schemas.openxmlformats.org/officeDocument/2006/relationships/slideLayout" Target="../slideLayouts/slideLayout16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slideLayout" Target="../slideLayouts/slideLayout16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16.png"/><Relationship Id="rId5" Type="http://schemas.openxmlformats.org/officeDocument/2006/relationships/image" Target="../media/image39.png"/><Relationship Id="rId6" Type="http://schemas.openxmlformats.org/officeDocument/2006/relationships/image" Target="../media/image40.svg"/><Relationship Id="rId7" Type="http://schemas.openxmlformats.org/officeDocument/2006/relationships/image" Target="../media/image6.png"/><Relationship Id="rId8" Type="http://schemas.openxmlformats.org/officeDocument/2006/relationships/slideLayout" Target="../slideLayouts/slideLayout16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1.png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6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2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6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3.png"/><Relationship Id="rId3" Type="http://schemas.openxmlformats.org/officeDocument/2006/relationships/slideLayout" Target="../slideLayouts/slideLayout16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4.png"/><Relationship Id="rId3" Type="http://schemas.openxmlformats.org/officeDocument/2006/relationships/slideLayout" Target="../slideLayouts/slideLayout16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46.jpeg"/><Relationship Id="rId4" Type="http://schemas.openxmlformats.org/officeDocument/2006/relationships/slideLayout" Target="../slideLayouts/slideLayout16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47.jpeg"/><Relationship Id="rId4" Type="http://schemas.openxmlformats.org/officeDocument/2006/relationships/slideLayout" Target="../slideLayouts/slideLayout16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image" Target="../media/image49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50.png"/><Relationship Id="rId7" Type="http://schemas.openxmlformats.org/officeDocument/2006/relationships/image" Target="../media/image51.svg"/><Relationship Id="rId8" Type="http://schemas.openxmlformats.org/officeDocument/2006/relationships/image" Target="../media/image52.png"/><Relationship Id="rId9" Type="http://schemas.openxmlformats.org/officeDocument/2006/relationships/image" Target="../media/image53.svg"/><Relationship Id="rId10" Type="http://schemas.openxmlformats.org/officeDocument/2006/relationships/image" Target="../media/image54.jpeg"/><Relationship Id="rId11" Type="http://schemas.openxmlformats.org/officeDocument/2006/relationships/image" Target="../media/image55.png"/><Relationship Id="rId12" Type="http://schemas.openxmlformats.org/officeDocument/2006/relationships/image" Target="../media/image56.png"/><Relationship Id="rId13" Type="http://schemas.openxmlformats.org/officeDocument/2006/relationships/image" Target="../media/image57.png"/><Relationship Id="rId14" Type="http://schemas.openxmlformats.org/officeDocument/2006/relationships/image" Target="../media/image58.png"/><Relationship Id="rId15" Type="http://schemas.openxmlformats.org/officeDocument/2006/relationships/slideLayout" Target="../slideLayouts/slideLayout16.xml"/><Relationship Id="rId16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59.png"/><Relationship Id="rId6" Type="http://schemas.openxmlformats.org/officeDocument/2006/relationships/image" Target="../media/image16.png"/><Relationship Id="rId7" Type="http://schemas.openxmlformats.org/officeDocument/2006/relationships/image" Target="../media/image60.png"/><Relationship Id="rId8" Type="http://schemas.openxmlformats.org/officeDocument/2006/relationships/image" Target="../media/image61.svg"/><Relationship Id="rId9" Type="http://schemas.openxmlformats.org/officeDocument/2006/relationships/image" Target="../media/image62.png"/><Relationship Id="rId10" Type="http://schemas.openxmlformats.org/officeDocument/2006/relationships/image" Target="../media/image63.svg"/><Relationship Id="rId11" Type="http://schemas.openxmlformats.org/officeDocument/2006/relationships/image" Target="../media/image64.png"/><Relationship Id="rId12" Type="http://schemas.openxmlformats.org/officeDocument/2006/relationships/image" Target="../media/image65.svg"/><Relationship Id="rId13" Type="http://schemas.openxmlformats.org/officeDocument/2006/relationships/image" Target="../media/image19.png"/><Relationship Id="rId14" Type="http://schemas.openxmlformats.org/officeDocument/2006/relationships/image" Target="../media/image20.svg"/><Relationship Id="rId15" Type="http://schemas.openxmlformats.org/officeDocument/2006/relationships/image" Target="../media/image66.png"/><Relationship Id="rId16" Type="http://schemas.openxmlformats.org/officeDocument/2006/relationships/image" Target="../media/image67.svg"/><Relationship Id="rId17" Type="http://schemas.openxmlformats.org/officeDocument/2006/relationships/image" Target="../media/image39.png"/><Relationship Id="rId18" Type="http://schemas.openxmlformats.org/officeDocument/2006/relationships/image" Target="../media/image40.svg"/><Relationship Id="rId19" Type="http://schemas.openxmlformats.org/officeDocument/2006/relationships/image" Target="../media/image6.png"/><Relationship Id="rId20" Type="http://schemas.openxmlformats.org/officeDocument/2006/relationships/image" Target="../media/image1.png"/><Relationship Id="rId2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/>
          </p:nvPr>
        </p:nvSpPr>
        <p:spPr>
          <a:xfrm>
            <a:off x="914760" y="4669200"/>
            <a:ext cx="10509840" cy="182124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algn="ctr" defTabSz="91440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David Rach, Ph.D.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UMGCCC Flow Cytometry Shared Resource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ts val="144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Baltimore, MD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 algn="ctr" defTabSz="914400">
              <a:lnSpc>
                <a:spcPct val="100000"/>
              </a:lnSpc>
              <a:spcBef>
                <a:spcPts val="1701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Noto Sans CJK SC"/>
              </a:rPr>
              <a:t>November 05, 2026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2" name="Picture 46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400" cy="39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Box 2"/>
          <p:cNvSpPr/>
          <p:nvPr/>
        </p:nvSpPr>
        <p:spPr>
          <a:xfrm>
            <a:off x="122760" y="6404400"/>
            <a:ext cx="21024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Slides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raphic 51" descr="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565920" y="229320"/>
            <a:ext cx="3652920" cy="954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5" name="Picture 72" descr=""/>
          <p:cNvPicPr/>
          <p:nvPr/>
        </p:nvPicPr>
        <p:blipFill>
          <a:blip r:embed="rId4"/>
          <a:stretch/>
        </p:blipFill>
        <p:spPr>
          <a:xfrm>
            <a:off x="8375760" y="115920"/>
            <a:ext cx="3191400" cy="125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"/>
          <p:cNvSpPr/>
          <p:nvPr/>
        </p:nvSpPr>
        <p:spPr>
          <a:xfrm>
            <a:off x="457200" y="3657600"/>
            <a:ext cx="11732760" cy="8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“Deciphering the black box”: leveraging shared-resource laboratory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resources to tackle spectral flow cytometry’s quirks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>
            <a:off x="686160" y="1052640"/>
            <a:ext cx="5251320" cy="1455840"/>
          </a:xfrm>
          <a:prstGeom prst="rect">
            <a:avLst/>
          </a:prstGeom>
          <a:solidFill>
            <a:srgbClr val="ffb66c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06800" cy="6325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12" descr=""/>
          <p:cNvPicPr/>
          <p:nvPr/>
        </p:nvPicPr>
        <p:blipFill>
          <a:blip r:embed="rId1"/>
          <a:stretch/>
        </p:blipFill>
        <p:spPr>
          <a:xfrm>
            <a:off x="6095880" y="1037880"/>
            <a:ext cx="5494680" cy="4442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Picture 14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"/>
          <p:cNvSpPr/>
          <p:nvPr/>
        </p:nvSpPr>
        <p:spPr>
          <a:xfrm>
            <a:off x="686160" y="2660400"/>
            <a:ext cx="5251320" cy="159408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2" name="Rectangle 7"/>
          <p:cNvSpPr/>
          <p:nvPr/>
        </p:nvSpPr>
        <p:spPr>
          <a:xfrm>
            <a:off x="748800" y="1052640"/>
            <a:ext cx="5188680" cy="20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Capable of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resolving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remarkably similar fluorophores →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increased number of markers per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conventional flow cytometry (CFC)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11"/>
          <p:cNvSpPr/>
          <p:nvPr/>
        </p:nvSpPr>
        <p:spPr>
          <a:xfrm>
            <a:off x="748800" y="2707200"/>
            <a:ext cx="5188680" cy="16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Allows for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rapid acquisition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 millions of events in a few minutes → typically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greater number of acquired cells per sample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mass cytometry (MC)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ectangle 12"/>
          <p:cNvSpPr/>
          <p:nvPr/>
        </p:nvSpPr>
        <p:spPr>
          <a:xfrm>
            <a:off x="685800" y="4440600"/>
            <a:ext cx="51886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Wingdings" charset="2"/>
              <a:buChar char="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(SFC) datasets have an unique combination of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width and depth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compared to preceding technologies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685800" y="4397760"/>
            <a:ext cx="5251680" cy="108252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66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400" cy="35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" name="" descr=""/>
          <p:cNvPicPr/>
          <p:nvPr/>
        </p:nvPicPr>
        <p:blipFill>
          <a:blip r:embed="rId1"/>
          <a:stretch/>
        </p:blipFill>
        <p:spPr>
          <a:xfrm>
            <a:off x="914400" y="1143000"/>
            <a:ext cx="5025600" cy="3768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0" y="46080"/>
            <a:ext cx="12110400" cy="636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Flow Cytometry is amazing!!!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9" name="Picture 42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9400" cy="39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"/>
          <p:cNvSpPr/>
          <p:nvPr/>
        </p:nvSpPr>
        <p:spPr>
          <a:xfrm>
            <a:off x="6629400" y="1198800"/>
            <a:ext cx="5025960" cy="1227960"/>
          </a:xfrm>
          <a:prstGeom prst="rect">
            <a:avLst/>
          </a:prstGeom>
          <a:solidFill>
            <a:srgbClr val="729fc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1" name=""/>
          <p:cNvSpPr/>
          <p:nvPr/>
        </p:nvSpPr>
        <p:spPr>
          <a:xfrm>
            <a:off x="6629400" y="3837600"/>
            <a:ext cx="5023080" cy="830520"/>
          </a:xfrm>
          <a:prstGeom prst="rect">
            <a:avLst/>
          </a:prstGeom>
          <a:solidFill>
            <a:srgbClr val="77bc65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2" name=""/>
          <p:cNvSpPr/>
          <p:nvPr/>
        </p:nvSpPr>
        <p:spPr>
          <a:xfrm>
            <a:off x="6629400" y="3895200"/>
            <a:ext cx="525168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Expand our knowledge about immune system heterogeneity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6626520" y="2498400"/>
            <a:ext cx="5025960" cy="1227960"/>
          </a:xfrm>
          <a:prstGeom prst="rect">
            <a:avLst/>
          </a:prstGeom>
          <a:solidFill>
            <a:srgbClr val="ff972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4" name=""/>
          <p:cNvSpPr/>
          <p:nvPr/>
        </p:nvSpPr>
        <p:spPr>
          <a:xfrm>
            <a:off x="6629400" y="1234800"/>
            <a:ext cx="5023080" cy="23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Able to efficiently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acquire greater number of cells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carry out a more thorough profiling of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rare cell subsets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panel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evaluate </a:t>
            </a:r>
            <a:r>
              <a:rPr b="0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multiple cell types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invaluable for clinical studies with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limited biospecimen</a:t>
            </a: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5" name="" descr=""/>
          <p:cNvPicPr/>
          <p:nvPr/>
        </p:nvPicPr>
        <p:blipFill>
          <a:blip r:embed="rId3"/>
          <a:stretch/>
        </p:blipFill>
        <p:spPr>
          <a:xfrm>
            <a:off x="231120" y="6281280"/>
            <a:ext cx="1364400" cy="35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" descr=""/>
          <p:cNvPicPr/>
          <p:nvPr/>
        </p:nvPicPr>
        <p:blipFill>
          <a:blip r:embed="rId1"/>
          <a:stretch/>
        </p:blipFill>
        <p:spPr>
          <a:xfrm>
            <a:off x="5768640" y="1863000"/>
            <a:ext cx="6113880" cy="296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"/>
          <p:cNvSpPr/>
          <p:nvPr/>
        </p:nvSpPr>
        <p:spPr>
          <a:xfrm>
            <a:off x="230040" y="1229040"/>
            <a:ext cx="5480280" cy="136548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8" name="Picture 170" descr=""/>
          <p:cNvPicPr/>
          <p:nvPr/>
        </p:nvPicPr>
        <p:blipFill>
          <a:blip r:embed="rId2"/>
          <a:stretch/>
        </p:blipFill>
        <p:spPr>
          <a:xfrm>
            <a:off x="10435680" y="617256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"/>
          <p:cNvSpPr/>
          <p:nvPr/>
        </p:nvSpPr>
        <p:spPr>
          <a:xfrm>
            <a:off x="101880" y="89280"/>
            <a:ext cx="12009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algorithmic tools struggle with unmixing errors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Rectangle 78"/>
          <p:cNvSpPr/>
          <p:nvPr/>
        </p:nvSpPr>
        <p:spPr>
          <a:xfrm>
            <a:off x="228600" y="1192680"/>
            <a:ext cx="548532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Adapted software packages heavily rely on having a consistent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median fluorescent intensity (MFI)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to cluster cells based on positive or negative marker expression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228600" y="4343400"/>
            <a:ext cx="5480280" cy="1365480"/>
          </a:xfrm>
          <a:prstGeom prst="rect">
            <a:avLst/>
          </a:prstGeom>
          <a:solidFill>
            <a:srgbClr val="77bc6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can seriously shift the MFI ranges for “negative” and “positive” cells for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individual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acquired specimens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228600" y="2780640"/>
            <a:ext cx="5480280" cy="1365480"/>
          </a:xfrm>
          <a:prstGeom prst="rect">
            <a:avLst/>
          </a:prstGeom>
          <a:solidFill>
            <a:srgbClr val="ff80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 2" charset="2"/>
              <a:buChar char="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</a:t>
            </a:r>
            <a:r>
              <a:rPr b="1" lang="en-US" sz="21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batch correction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/ normalization / scaling tools target instrumental or </a:t>
            </a:r>
            <a:r>
              <a:rPr b="1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experimental</a:t>
            </a: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level variation for correction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Picture 104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"/>
          <p:cNvSpPr/>
          <p:nvPr/>
        </p:nvSpPr>
        <p:spPr>
          <a:xfrm>
            <a:off x="101880" y="89280"/>
            <a:ext cx="12009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“We discovered a novel dendritic cell cluster”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7" name="" descr=""/>
          <p:cNvPicPr/>
          <p:nvPr/>
        </p:nvPicPr>
        <p:blipFill>
          <a:blip r:embed="rId3"/>
          <a:stretch/>
        </p:blipFill>
        <p:spPr>
          <a:xfrm>
            <a:off x="2769120" y="1062000"/>
            <a:ext cx="6689160" cy="464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8" name="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3375000" y="4572360"/>
            <a:ext cx="1138320" cy="1138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>
            <a:off x="4343400" y="3429000"/>
            <a:ext cx="3424680" cy="68148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90" name="Picture 79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1" name=""/>
          <p:cNvSpPr/>
          <p:nvPr/>
        </p:nvSpPr>
        <p:spPr>
          <a:xfrm>
            <a:off x="0" y="41040"/>
            <a:ext cx="12111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Building open-source tool-sets to address SFC’s quirks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2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3" name="" descr=""/>
          <p:cNvPicPr/>
          <p:nvPr/>
        </p:nvPicPr>
        <p:blipFill>
          <a:blip r:embed="rId3"/>
          <a:stretch/>
        </p:blipFill>
        <p:spPr>
          <a:xfrm>
            <a:off x="1371600" y="1371240"/>
            <a:ext cx="2104920" cy="1822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4" name="" descr=""/>
          <p:cNvPicPr/>
          <p:nvPr/>
        </p:nvPicPr>
        <p:blipFill>
          <a:blip r:embed="rId4"/>
          <a:stretch/>
        </p:blipFill>
        <p:spPr>
          <a:xfrm>
            <a:off x="5029200" y="1271880"/>
            <a:ext cx="2274840" cy="196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"/>
          <p:cNvSpPr/>
          <p:nvPr/>
        </p:nvSpPr>
        <p:spPr>
          <a:xfrm>
            <a:off x="687600" y="3476520"/>
            <a:ext cx="3422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Spectral Signature Characterization and Isolation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8208000" y="3428640"/>
            <a:ext cx="3422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Automated Instrument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Quality-Control Dashboards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4343400" y="3475800"/>
            <a:ext cx="3422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Incorporation of manually-annotated gating information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" descr=""/>
          <p:cNvPicPr/>
          <p:nvPr/>
        </p:nvPicPr>
        <p:blipFill>
          <a:blip r:embed="rId5"/>
          <a:stretch/>
        </p:blipFill>
        <p:spPr>
          <a:xfrm>
            <a:off x="9027720" y="1143000"/>
            <a:ext cx="1917720" cy="221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"/>
          <p:cNvSpPr/>
          <p:nvPr/>
        </p:nvSpPr>
        <p:spPr>
          <a:xfrm>
            <a:off x="8206200" y="3428640"/>
            <a:ext cx="3424680" cy="68148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0" name=""/>
          <p:cNvSpPr/>
          <p:nvPr/>
        </p:nvSpPr>
        <p:spPr>
          <a:xfrm>
            <a:off x="685800" y="3429000"/>
            <a:ext cx="3424680" cy="681480"/>
          </a:xfrm>
          <a:prstGeom prst="rect">
            <a:avLst/>
          </a:prstGeom>
          <a:solidFill>
            <a:srgbClr val="a1467e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1" name="" descr=""/>
          <p:cNvPicPr/>
          <p:nvPr/>
        </p:nvPicPr>
        <p:blipFill>
          <a:blip r:embed="rId6"/>
          <a:stretch/>
        </p:blipFill>
        <p:spPr>
          <a:xfrm>
            <a:off x="6172200" y="4710600"/>
            <a:ext cx="2185920" cy="1457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"/>
          <p:cNvSpPr/>
          <p:nvPr/>
        </p:nvSpPr>
        <p:spPr>
          <a:xfrm>
            <a:off x="6172200" y="5943600"/>
            <a:ext cx="2510280" cy="681480"/>
          </a:xfrm>
          <a:prstGeom prst="rect">
            <a:avLst/>
          </a:prstGeom>
          <a:solidFill>
            <a:srgbClr val="ff7b59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3" name="Picture 1" descr=""/>
          <p:cNvPicPr/>
          <p:nvPr/>
        </p:nvPicPr>
        <p:blipFill>
          <a:blip r:embed="rId7"/>
          <a:stretch/>
        </p:blipFill>
        <p:spPr>
          <a:xfrm>
            <a:off x="3429000" y="4898160"/>
            <a:ext cx="2281680" cy="172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4" name=""/>
          <p:cNvSpPr/>
          <p:nvPr/>
        </p:nvSpPr>
        <p:spPr>
          <a:xfrm>
            <a:off x="6930000" y="6100200"/>
            <a:ext cx="9590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Rust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>
            <a:off x="5787000" y="3558600"/>
            <a:ext cx="4725720" cy="782640"/>
          </a:xfrm>
          <a:prstGeom prst="rect">
            <a:avLst/>
          </a:prstGeom>
          <a:solidFill>
            <a:srgbClr val="ffbf00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0200" cy="693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Daily Processing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Picture 5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6320" cy="52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Picture 6" descr=""/>
          <p:cNvPicPr/>
          <p:nvPr/>
        </p:nvPicPr>
        <p:blipFill>
          <a:blip r:embed="rId2"/>
          <a:stretch/>
        </p:blipFill>
        <p:spPr>
          <a:xfrm>
            <a:off x="1010520" y="952920"/>
            <a:ext cx="4525560" cy="4759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Rectangle 5"/>
          <p:cNvSpPr/>
          <p:nvPr/>
        </p:nvSpPr>
        <p:spPr>
          <a:xfrm>
            <a:off x="5730480" y="2142360"/>
            <a:ext cx="54680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24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Behind-the-scenes: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Using R (and increasingly Rust) to process the .fcs files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Rectangle 6"/>
          <p:cNvSpPr/>
          <p:nvPr/>
        </p:nvSpPr>
        <p:spPr>
          <a:xfrm>
            <a:off x="5751000" y="4163760"/>
            <a:ext cx="49903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Our Quarto Website gets updated twice daily via a GitHub action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Rectangle 8"/>
          <p:cNvSpPr/>
          <p:nvPr/>
        </p:nvSpPr>
        <p:spPr>
          <a:xfrm>
            <a:off x="5751000" y="3177360"/>
            <a:ext cx="54680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transfer to GitHub via Windows Task Scheduler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/>
          <p:nvPr/>
        </p:nvSpPr>
        <p:spPr>
          <a:xfrm>
            <a:off x="5787000" y="4601880"/>
            <a:ext cx="4725720" cy="782640"/>
          </a:xfrm>
          <a:prstGeom prst="rect">
            <a:avLst/>
          </a:prstGeom>
          <a:solidFill>
            <a:srgbClr val="e0c2cd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5751000" y="2572200"/>
            <a:ext cx="4761720" cy="782640"/>
          </a:xfrm>
          <a:prstGeom prst="rect">
            <a:avLst/>
          </a:prstGeom>
          <a:solidFill>
            <a:srgbClr val="dee6ef">
              <a:alpha val="25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  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4" name="Picture 7" descr=""/>
          <p:cNvPicPr/>
          <p:nvPr/>
        </p:nvPicPr>
        <p:blipFill>
          <a:blip r:embed="rId3"/>
          <a:stretch/>
        </p:blipFill>
        <p:spPr>
          <a:xfrm>
            <a:off x="9108000" y="812520"/>
            <a:ext cx="1365840" cy="1578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0200" cy="693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6" name="Picture 2" descr=""/>
          <p:cNvPicPr/>
          <p:nvPr/>
        </p:nvPicPr>
        <p:blipFill>
          <a:blip r:embed="rId1"/>
          <a:stretch/>
        </p:blipFill>
        <p:spPr>
          <a:xfrm>
            <a:off x="10287360" y="6096600"/>
            <a:ext cx="1516320" cy="52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7" name="Picture 3" descr=""/>
          <p:cNvPicPr/>
          <p:nvPr/>
        </p:nvPicPr>
        <p:blipFill>
          <a:blip r:embed="rId2"/>
          <a:stretch/>
        </p:blipFill>
        <p:spPr>
          <a:xfrm>
            <a:off x="2069640" y="1093320"/>
            <a:ext cx="9746640" cy="443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8" name="Graphic 1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215640" y="1154520"/>
            <a:ext cx="1644480" cy="1688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-148680" y="2971800"/>
            <a:ext cx="1951200" cy="499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Dashboard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-148680" y="5227200"/>
            <a:ext cx="1951200" cy="49968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t" anchorCtr="1">
            <a:normAutofit/>
          </a:bodyPr>
          <a:p>
            <a:pPr marL="432000" indent="0" defTabSz="914400">
              <a:lnSpc>
                <a:spcPts val="72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How-To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1" name="Picture 8" descr=""/>
          <p:cNvPicPr/>
          <p:nvPr/>
        </p:nvPicPr>
        <p:blipFill>
          <a:blip r:embed="rId5"/>
          <a:srcRect l="3481" t="5989" r="0" b="0"/>
          <a:stretch/>
        </p:blipFill>
        <p:spPr>
          <a:xfrm>
            <a:off x="274320" y="3545280"/>
            <a:ext cx="1662120" cy="1595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838080" y="46080"/>
            <a:ext cx="10510200" cy="693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Instrument Quality Control Dashboard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9" descr=""/>
          <p:cNvPicPr/>
          <p:nvPr/>
        </p:nvPicPr>
        <p:blipFill>
          <a:blip r:embed="rId1"/>
          <a:stretch/>
        </p:blipFill>
        <p:spPr>
          <a:xfrm>
            <a:off x="10058760" y="6153840"/>
            <a:ext cx="1516320" cy="52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4" name="Picture 10" descr=""/>
          <p:cNvPicPr/>
          <p:nvPr/>
        </p:nvPicPr>
        <p:blipFill>
          <a:blip r:embed="rId2"/>
          <a:stretch/>
        </p:blipFill>
        <p:spPr>
          <a:xfrm>
            <a:off x="582120" y="726480"/>
            <a:ext cx="11024640" cy="5172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Picture 19" descr="A screenshot of a video game&#10;&#10;AI-generated content may be incorrect."/>
          <p:cNvPicPr/>
          <p:nvPr/>
        </p:nvPicPr>
        <p:blipFill>
          <a:blip r:embed="rId1"/>
          <a:srcRect l="0" t="0" r="0" b="13847"/>
          <a:stretch/>
        </p:blipFill>
        <p:spPr>
          <a:xfrm>
            <a:off x="2304360" y="1143000"/>
            <a:ext cx="7749720" cy="4567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6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7" name=""/>
          <p:cNvSpPr/>
          <p:nvPr/>
        </p:nvSpPr>
        <p:spPr>
          <a:xfrm>
            <a:off x="1143000" y="4141440"/>
            <a:ext cx="1182600" cy="303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/>
          <p:nvPr/>
        </p:nvSpPr>
        <p:spPr>
          <a:xfrm>
            <a:off x="1143000" y="1525320"/>
            <a:ext cx="1182600" cy="5166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2034720" y="4631400"/>
            <a:ext cx="594360" cy="36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0" name=""/>
          <p:cNvSpPr/>
          <p:nvPr/>
        </p:nvSpPr>
        <p:spPr>
          <a:xfrm>
            <a:off x="2034720" y="2014920"/>
            <a:ext cx="59436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1" name="Picture 22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PlaceHolder 4"/>
          <p:cNvSpPr/>
          <p:nvPr/>
        </p:nvSpPr>
        <p:spPr>
          <a:xfrm>
            <a:off x="231840" y="47880"/>
            <a:ext cx="12108240" cy="6339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Spectral Unmixing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Picture 24" descr="A screenshot of a video game&#10;&#10;AI-generated content may be incorrect."/>
          <p:cNvPicPr/>
          <p:nvPr/>
        </p:nvPicPr>
        <p:blipFill>
          <a:blip r:embed="rId1"/>
          <a:srcRect l="0" t="0" r="0" b="12458"/>
          <a:stretch/>
        </p:blipFill>
        <p:spPr>
          <a:xfrm>
            <a:off x="2996640" y="1143000"/>
            <a:ext cx="7286040" cy="4796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4" name="" descr=""/>
          <p:cNvPicPr/>
          <p:nvPr/>
        </p:nvPicPr>
        <p:blipFill>
          <a:blip r:embed="rId2"/>
          <a:stretch/>
        </p:blipFill>
        <p:spPr>
          <a:xfrm>
            <a:off x="45864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"/>
          <p:cNvSpPr/>
          <p:nvPr/>
        </p:nvSpPr>
        <p:spPr>
          <a:xfrm>
            <a:off x="1600200" y="4239000"/>
            <a:ext cx="1110960" cy="3031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PE-Vio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/>
          <p:nvPr/>
        </p:nvSpPr>
        <p:spPr>
          <a:xfrm>
            <a:off x="1600200" y="1537560"/>
            <a:ext cx="1110960" cy="5166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APC-Vio 770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2437920" y="474480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8" name=""/>
          <p:cNvSpPr/>
          <p:nvPr/>
        </p:nvSpPr>
        <p:spPr>
          <a:xfrm>
            <a:off x="2437920" y="2043360"/>
            <a:ext cx="558720" cy="720"/>
          </a:xfrm>
          <a:prstGeom prst="line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8360" rIns="108360" tIns="-63360" bIns="-6336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39" name="Picture 25" descr=""/>
          <p:cNvPicPr/>
          <p:nvPr/>
        </p:nvPicPr>
        <p:blipFill>
          <a:blip r:embed="rId3"/>
          <a:stretch/>
        </p:blipFill>
        <p:spPr>
          <a:xfrm>
            <a:off x="10435680" y="617256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PlaceHolder 5"/>
          <p:cNvSpPr/>
          <p:nvPr/>
        </p:nvSpPr>
        <p:spPr>
          <a:xfrm>
            <a:off x="0" y="228600"/>
            <a:ext cx="12108240" cy="6339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rmAutofit lnSpcReduction="9999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Mismatched references lead to errors in attribution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7317000" y="1144800"/>
            <a:ext cx="4565880" cy="1365480"/>
          </a:xfrm>
          <a:prstGeom prst="rect">
            <a:avLst/>
          </a:prstGeom>
          <a:solidFill>
            <a:srgbClr val="f7d1d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42" name="Picture 77" descr=""/>
          <p:cNvPicPr/>
          <p:nvPr/>
        </p:nvPicPr>
        <p:blipFill>
          <a:blip r:embed="rId1"/>
          <a:stretch/>
        </p:blipFill>
        <p:spPr>
          <a:xfrm>
            <a:off x="10435680" y="6172560"/>
            <a:ext cx="1136880" cy="394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"/>
          <p:cNvSpPr/>
          <p:nvPr/>
        </p:nvSpPr>
        <p:spPr>
          <a:xfrm>
            <a:off x="101880" y="89280"/>
            <a:ext cx="12009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 How to identify problematic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4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5480" cy="353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"/>
          <p:cNvSpPr/>
          <p:nvPr/>
        </p:nvSpPr>
        <p:spPr>
          <a:xfrm>
            <a:off x="7399800" y="1143000"/>
            <a:ext cx="45676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Despite the critical importance unmixing controls play, few tools permit us to determine quality of the individual control before unmixing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/>
          <p:nvPr/>
        </p:nvSpPr>
        <p:spPr>
          <a:xfrm>
            <a:off x="7315200" y="2514600"/>
            <a:ext cx="45676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Existing quality control algorithms (PeacoQC, FlowAI, etc.) primarily focus on detecting laser and fluidic issues in already acquired .fcs files.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7387200" y="3922200"/>
            <a:ext cx="456768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Unmixing errors can be introduced by tandem degradational, additional autofluorescences, undiagnosed instrumental issues, etc. </a:t>
            </a:r>
            <a:endParaRPr b="0" lang="en-US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7315200" y="2552400"/>
            <a:ext cx="4565880" cy="1365480"/>
          </a:xfrm>
          <a:prstGeom prst="rect">
            <a:avLst/>
          </a:prstGeom>
          <a:solidFill>
            <a:srgbClr val="3faf46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9" name=""/>
          <p:cNvSpPr/>
          <p:nvPr/>
        </p:nvSpPr>
        <p:spPr>
          <a:xfrm>
            <a:off x="7281000" y="3994200"/>
            <a:ext cx="4565880" cy="1365480"/>
          </a:xfrm>
          <a:prstGeom prst="rect">
            <a:avLst/>
          </a:prstGeom>
          <a:solidFill>
            <a:srgbClr val="ffbf00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50" name="" descr=""/>
          <p:cNvPicPr/>
          <p:nvPr/>
        </p:nvPicPr>
        <p:blipFill>
          <a:blip r:embed="rId3"/>
          <a:stretch/>
        </p:blipFill>
        <p:spPr>
          <a:xfrm>
            <a:off x="228600" y="1600200"/>
            <a:ext cx="6586920" cy="319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Picture 83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2880" cy="593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8240" cy="633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3" name="Picture 28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1120" cy="2482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" name="TextBox 7"/>
          <p:cNvSpPr/>
          <p:nvPr/>
        </p:nvSpPr>
        <p:spPr>
          <a:xfrm>
            <a:off x="1491480" y="5803560"/>
            <a:ext cx="19746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5" name="Graphic 3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2800" cy="150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6" name="Picture 31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7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"/>
          <p:cNvSpPr/>
          <p:nvPr/>
        </p:nvSpPr>
        <p:spPr>
          <a:xfrm>
            <a:off x="6028200" y="914400"/>
            <a:ext cx="4111920" cy="54835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Picture 90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2880" cy="593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8240" cy="633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1" name="Picture 44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1120" cy="2482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2" name="TextBox 11"/>
          <p:cNvSpPr/>
          <p:nvPr/>
        </p:nvSpPr>
        <p:spPr>
          <a:xfrm>
            <a:off x="1491480" y="5803560"/>
            <a:ext cx="19746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Graphic 4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2800" cy="150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Picture 7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5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5840" cy="35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6" name=""/>
          <p:cNvSpPr/>
          <p:nvPr/>
        </p:nvSpPr>
        <p:spPr>
          <a:xfrm>
            <a:off x="7979400" y="1143000"/>
            <a:ext cx="2074680" cy="5254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7" name="Picture 99" descr=""/>
          <p:cNvPicPr/>
          <p:nvPr/>
        </p:nvPicPr>
        <p:blipFill>
          <a:blip r:embed="rId1"/>
          <a:srcRect l="28727" t="0" r="0" b="0"/>
          <a:stretch/>
        </p:blipFill>
        <p:spPr>
          <a:xfrm>
            <a:off x="3931200" y="469800"/>
            <a:ext cx="6122880" cy="593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231840" y="47520"/>
            <a:ext cx="12108240" cy="6339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Luciernaga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9" name="Picture 75" descr=""/>
          <p:cNvPicPr/>
          <p:nvPr/>
        </p:nvPicPr>
        <p:blipFill>
          <a:blip r:embed="rId2"/>
          <a:srcRect l="0" t="29511" r="72127" b="28628"/>
          <a:stretch/>
        </p:blipFill>
        <p:spPr>
          <a:xfrm>
            <a:off x="1371600" y="952200"/>
            <a:ext cx="2391120" cy="2482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TextBox 12"/>
          <p:cNvSpPr/>
          <p:nvPr/>
        </p:nvSpPr>
        <p:spPr>
          <a:xfrm>
            <a:off x="1491480" y="5803560"/>
            <a:ext cx="1974600" cy="1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1" name="Graphic 10" descr=""/>
          <p:cNvPicPr/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980000" y="4222440"/>
            <a:ext cx="1522800" cy="150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2" name="Picture 84" descr=""/>
          <p:cNvPicPr/>
          <p:nvPr/>
        </p:nvPicPr>
        <p:blipFill>
          <a:blip r:embed="rId5"/>
          <a:stretch/>
        </p:blipFill>
        <p:spPr>
          <a:xfrm>
            <a:off x="10435680" y="6172200"/>
            <a:ext cx="1137240" cy="395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3" name="" descr=""/>
          <p:cNvPicPr/>
          <p:nvPr/>
        </p:nvPicPr>
        <p:blipFill>
          <a:blip r:embed="rId6"/>
          <a:stretch/>
        </p:blipFill>
        <p:spPr>
          <a:xfrm>
            <a:off x="457560" y="617256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PlaceHolder 1"/>
          <p:cNvSpPr>
            <a:spLocks noGrp="1"/>
          </p:cNvSpPr>
          <p:nvPr>
            <p:ph type="title"/>
          </p:nvPr>
        </p:nvSpPr>
        <p:spPr>
          <a:xfrm>
            <a:off x="0" y="-61920"/>
            <a:ext cx="12110400" cy="6361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 lnSpcReduction="9999"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tools for screening unmixing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5" name="Picture 6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9400" cy="397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6" name="" descr=""/>
          <p:cNvPicPr/>
          <p:nvPr/>
        </p:nvPicPr>
        <p:blipFill>
          <a:blip r:embed="rId2"/>
          <a:stretch/>
        </p:blipFill>
        <p:spPr>
          <a:xfrm>
            <a:off x="457560" y="617256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7" name=""/>
          <p:cNvSpPr/>
          <p:nvPr/>
        </p:nvSpPr>
        <p:spPr>
          <a:xfrm>
            <a:off x="6487920" y="2309040"/>
            <a:ext cx="4541400" cy="2014200"/>
          </a:xfrm>
          <a:prstGeom prst="rect">
            <a:avLst/>
          </a:prstGeom>
          <a:solidFill>
            <a:srgbClr val="afd095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78" name="" descr=""/>
          <p:cNvPicPr/>
          <p:nvPr/>
        </p:nvPicPr>
        <p:blipFill>
          <a:blip r:embed="rId3"/>
          <a:srcRect l="0" t="0" r="15005" b="0"/>
          <a:stretch/>
        </p:blipFill>
        <p:spPr>
          <a:xfrm>
            <a:off x="7459200" y="2365560"/>
            <a:ext cx="2772360" cy="154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9" name=""/>
          <p:cNvSpPr/>
          <p:nvPr/>
        </p:nvSpPr>
        <p:spPr>
          <a:xfrm>
            <a:off x="6993360" y="3948840"/>
            <a:ext cx="353088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Autofluorescence Isolation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/>
          <p:nvPr/>
        </p:nvSpPr>
        <p:spPr>
          <a:xfrm>
            <a:off x="928440" y="3677040"/>
            <a:ext cx="5046840" cy="2014200"/>
          </a:xfrm>
          <a:prstGeom prst="rect">
            <a:avLst/>
          </a:prstGeom>
          <a:solidFill>
            <a:srgbClr val="729fcf">
              <a:alpha val="5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81" name="" descr=""/>
          <p:cNvPicPr/>
          <p:nvPr/>
        </p:nvPicPr>
        <p:blipFill>
          <a:blip r:embed="rId4"/>
          <a:srcRect l="36749" t="50780" r="-263" b="0"/>
          <a:stretch/>
        </p:blipFill>
        <p:spPr>
          <a:xfrm>
            <a:off x="1061640" y="3804120"/>
            <a:ext cx="4794120" cy="146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2" name=""/>
          <p:cNvSpPr/>
          <p:nvPr/>
        </p:nvSpPr>
        <p:spPr>
          <a:xfrm>
            <a:off x="1686600" y="5356800"/>
            <a:ext cx="353052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Residual Autofluorescence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914400" y="1143000"/>
            <a:ext cx="5060880" cy="2273760"/>
          </a:xfrm>
          <a:prstGeom prst="rect">
            <a:avLst/>
          </a:prstGeom>
          <a:solidFill>
            <a:srgbClr val="ffd7d7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grpSp>
        <p:nvGrpSpPr>
          <p:cNvPr id="284" name=""/>
          <p:cNvGrpSpPr/>
          <p:nvPr/>
        </p:nvGrpSpPr>
        <p:grpSpPr>
          <a:xfrm>
            <a:off x="1686600" y="1233360"/>
            <a:ext cx="3942720" cy="1780200"/>
            <a:chOff x="1686600" y="1233360"/>
            <a:chExt cx="3942720" cy="1780200"/>
          </a:xfrm>
        </p:grpSpPr>
        <p:sp>
          <p:nvSpPr>
            <p:cNvPr id="285" name="Arrow: Right 2"/>
            <p:cNvSpPr/>
            <p:nvPr/>
          </p:nvSpPr>
          <p:spPr>
            <a:xfrm rot="10800000">
              <a:off x="4872600" y="1358640"/>
              <a:ext cx="414360" cy="2178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  <p:sp>
          <p:nvSpPr>
            <p:cNvPr id="286" name="TextBox 4"/>
            <p:cNvSpPr/>
            <p:nvPr/>
          </p:nvSpPr>
          <p:spPr>
            <a:xfrm>
              <a:off x="4759200" y="1613520"/>
              <a:ext cx="870120" cy="54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APC-Fire 810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287" name="Picture 4" descr="A graph of a number of data&#10;&#10;AI-generated content may be incorrect."/>
            <p:cNvPicPr/>
            <p:nvPr/>
          </p:nvPicPr>
          <p:blipFill>
            <a:blip r:embed="rId5"/>
            <a:stretch/>
          </p:blipFill>
          <p:spPr>
            <a:xfrm>
              <a:off x="1686600" y="1233360"/>
              <a:ext cx="3171240" cy="17802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8" name="TextBox 3"/>
            <p:cNvSpPr/>
            <p:nvPr/>
          </p:nvSpPr>
          <p:spPr>
            <a:xfrm>
              <a:off x="3405960" y="1486440"/>
              <a:ext cx="624240" cy="31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US" sz="1500" strike="noStrike" u="none">
                  <a:solidFill>
                    <a:srgbClr val="000000"/>
                  </a:solidFill>
                  <a:effectLst/>
                  <a:uFillTx/>
                  <a:latin typeface="Times New Roman"/>
                  <a:ea typeface="DejaVu Sans"/>
                </a:rPr>
                <a:t>APC</a:t>
              </a:r>
              <a:endParaRPr b="0" lang="en-US" sz="15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9" name="Arrow: Right 1"/>
            <p:cNvSpPr/>
            <p:nvPr/>
          </p:nvSpPr>
          <p:spPr>
            <a:xfrm>
              <a:off x="4076640" y="1538280"/>
              <a:ext cx="216360" cy="21744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1f37"/>
            </a:solidFill>
            <a:ln w="12600">
              <a:solidFill>
                <a:srgbClr val="5e0d18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Calibri"/>
                <a:ea typeface="DejaVu Sans"/>
              </a:endParaRPr>
            </a:p>
          </p:txBody>
        </p:sp>
      </p:grpSp>
      <p:sp>
        <p:nvSpPr>
          <p:cNvPr id="290" name=""/>
          <p:cNvSpPr/>
          <p:nvPr/>
        </p:nvSpPr>
        <p:spPr>
          <a:xfrm>
            <a:off x="1939320" y="3028680"/>
            <a:ext cx="2772000" cy="333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>
              <a:lnSpc>
                <a:spcPct val="100000"/>
              </a:lnSpc>
            </a:pPr>
            <a:r>
              <a:rPr b="1" lang="en-US" sz="1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Tandem Degradation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"/>
          <p:cNvSpPr/>
          <p:nvPr/>
        </p:nvSpPr>
        <p:spPr>
          <a:xfrm>
            <a:off x="516600" y="3854880"/>
            <a:ext cx="6168240" cy="71496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2" name=""/>
          <p:cNvSpPr/>
          <p:nvPr/>
        </p:nvSpPr>
        <p:spPr>
          <a:xfrm>
            <a:off x="509400" y="2660400"/>
            <a:ext cx="6175440" cy="1020240"/>
          </a:xfrm>
          <a:prstGeom prst="rect">
            <a:avLst/>
          </a:prstGeom>
          <a:solidFill>
            <a:srgbClr val="ff6d6d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93" name="" descr=""/>
          <p:cNvPicPr/>
          <p:nvPr/>
        </p:nvPicPr>
        <p:blipFill>
          <a:blip r:embed="rId1"/>
          <a:stretch/>
        </p:blipFill>
        <p:spPr>
          <a:xfrm>
            <a:off x="7110000" y="1483920"/>
            <a:ext cx="4644000" cy="296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"/>
          <p:cNvSpPr/>
          <p:nvPr/>
        </p:nvSpPr>
        <p:spPr>
          <a:xfrm>
            <a:off x="277200" y="961920"/>
            <a:ext cx="5587560" cy="63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5" name=""/>
          <p:cNvSpPr/>
          <p:nvPr/>
        </p:nvSpPr>
        <p:spPr>
          <a:xfrm>
            <a:off x="468000" y="2588400"/>
            <a:ext cx="64328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the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 degrades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noticeable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increase in variant signatures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, making up substantial proportion of all cells in the unmixing control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/>
          <p:nvPr/>
        </p:nvSpPr>
        <p:spPr>
          <a:xfrm>
            <a:off x="480600" y="3813840"/>
            <a:ext cx="639684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Automated screening all acquired unmixing controls from campus users during off-hours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"/>
          <p:cNvSpPr/>
          <p:nvPr/>
        </p:nvSpPr>
        <p:spPr>
          <a:xfrm>
            <a:off x="0" y="47520"/>
            <a:ext cx="12340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degrading fluorophores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Picture 94" descr=""/>
          <p:cNvPicPr/>
          <p:nvPr/>
        </p:nvPicPr>
        <p:blipFill>
          <a:blip r:embed="rId2"/>
          <a:stretch/>
        </p:blipFill>
        <p:spPr>
          <a:xfrm>
            <a:off x="10436040" y="617256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9" name="" descr=""/>
          <p:cNvPicPr/>
          <p:nvPr/>
        </p:nvPicPr>
        <p:blipFill>
          <a:blip r:embed="rId3"/>
          <a:stretch/>
        </p:blipFill>
        <p:spPr>
          <a:xfrm>
            <a:off x="457920" y="617292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0" name=""/>
          <p:cNvSpPr/>
          <p:nvPr/>
        </p:nvSpPr>
        <p:spPr>
          <a:xfrm>
            <a:off x="516600" y="1444320"/>
            <a:ext cx="6167520" cy="1056960"/>
          </a:xfrm>
          <a:prstGeom prst="rect">
            <a:avLst/>
          </a:prstGeom>
          <a:solidFill>
            <a:srgbClr val="00a933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1" name=""/>
          <p:cNvSpPr/>
          <p:nvPr/>
        </p:nvSpPr>
        <p:spPr>
          <a:xfrm>
            <a:off x="473400" y="1408320"/>
            <a:ext cx="617544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Fluorophores in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good shape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→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one predominant normalized signature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within the unmixing control raw .fcs file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"/>
          <p:cNvSpPr/>
          <p:nvPr/>
        </p:nvSpPr>
        <p:spPr>
          <a:xfrm>
            <a:off x="5257800" y="2861640"/>
            <a:ext cx="5938920" cy="985320"/>
          </a:xfrm>
          <a:prstGeom prst="rect">
            <a:avLst/>
          </a:prstGeom>
          <a:solidFill>
            <a:srgbClr val="ff3838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3" name=""/>
          <p:cNvSpPr/>
          <p:nvPr/>
        </p:nvSpPr>
        <p:spPr>
          <a:xfrm>
            <a:off x="5255280" y="4057920"/>
            <a:ext cx="5951520" cy="108900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4" name=""/>
          <p:cNvSpPr/>
          <p:nvPr/>
        </p:nvSpPr>
        <p:spPr>
          <a:xfrm>
            <a:off x="5258520" y="1494720"/>
            <a:ext cx="5938920" cy="113652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05" name="" descr=""/>
          <p:cNvPicPr/>
          <p:nvPr/>
        </p:nvPicPr>
        <p:blipFill>
          <a:blip r:embed="rId1"/>
          <a:stretch/>
        </p:blipFill>
        <p:spPr>
          <a:xfrm>
            <a:off x="2476440" y="3654720"/>
            <a:ext cx="2252520" cy="2018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6" name="" descr=""/>
          <p:cNvPicPr/>
          <p:nvPr/>
        </p:nvPicPr>
        <p:blipFill>
          <a:blip r:embed="rId2"/>
          <a:stretch/>
        </p:blipFill>
        <p:spPr>
          <a:xfrm>
            <a:off x="318600" y="3675240"/>
            <a:ext cx="2048040" cy="199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"/>
          <p:cNvSpPr/>
          <p:nvPr/>
        </p:nvSpPr>
        <p:spPr>
          <a:xfrm>
            <a:off x="5259240" y="1539000"/>
            <a:ext cx="61668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This approach also works to isolate variant autofluorescence signatures from unstained controls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>
            <a:off x="5221800" y="3987360"/>
            <a:ext cx="59490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Return directly as an .fcs file containing just cells with same signature for use as an autofluorescent tag in SpectroFlo 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>
            <a:off x="5257800" y="2791080"/>
            <a:ext cx="59389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Unlike other approaches, the isolated cells share normalized signatures, only differing in terms of brightness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46800"/>
            <a:ext cx="1218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Isolating additional autofluorescence signatures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Picture 95" descr=""/>
          <p:cNvPicPr/>
          <p:nvPr/>
        </p:nvPicPr>
        <p:blipFill>
          <a:blip r:embed="rId3"/>
          <a:stretch/>
        </p:blipFill>
        <p:spPr>
          <a:xfrm>
            <a:off x="10436040" y="6172560"/>
            <a:ext cx="1136160" cy="394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2" name="" descr=""/>
          <p:cNvPicPr/>
          <p:nvPr/>
        </p:nvPicPr>
        <p:blipFill>
          <a:blip r:embed="rId4"/>
          <a:stretch/>
        </p:blipFill>
        <p:spPr>
          <a:xfrm>
            <a:off x="457920" y="617292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3" name="" descr=""/>
          <p:cNvPicPr/>
          <p:nvPr/>
        </p:nvPicPr>
        <p:blipFill>
          <a:blip r:embed="rId5"/>
          <a:stretch/>
        </p:blipFill>
        <p:spPr>
          <a:xfrm>
            <a:off x="409320" y="914400"/>
            <a:ext cx="4248720" cy="2630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>
            <a:off x="217800" y="2178000"/>
            <a:ext cx="4351320" cy="1727280"/>
          </a:xfrm>
          <a:prstGeom prst="rect">
            <a:avLst/>
          </a:prstGeom>
          <a:solidFill>
            <a:srgbClr val="afd095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5" name=""/>
          <p:cNvSpPr/>
          <p:nvPr/>
        </p:nvSpPr>
        <p:spPr>
          <a:xfrm>
            <a:off x="251280" y="4057920"/>
            <a:ext cx="4317840" cy="1654200"/>
          </a:xfrm>
          <a:prstGeom prst="rect">
            <a:avLst/>
          </a:prstGeom>
          <a:solidFill>
            <a:srgbClr val="ff972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6" name=""/>
          <p:cNvSpPr/>
          <p:nvPr/>
        </p:nvSpPr>
        <p:spPr>
          <a:xfrm>
            <a:off x="228600" y="1494720"/>
            <a:ext cx="4314600" cy="559800"/>
          </a:xfrm>
          <a:prstGeom prst="rect">
            <a:avLst/>
          </a:prstGeom>
          <a:solidFill>
            <a:srgbClr val="729fcf">
              <a:alpha val="20000"/>
            </a:srgbClr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7" name=""/>
          <p:cNvSpPr/>
          <p:nvPr/>
        </p:nvSpPr>
        <p:spPr>
          <a:xfrm>
            <a:off x="255240" y="1539000"/>
            <a:ext cx="431388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1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“As bright or brighter”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217800" y="3987360"/>
            <a:ext cx="435132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OpenSymbol"/>
              <a:buChar char="►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Identifying and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switching these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dim cell single-color controls to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bead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significantly improved unmixing for our panels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181800" y="2142000"/>
            <a:ext cx="4387320" cy="176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Dim antigen-fluorophore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combinations acquired as </a:t>
            </a:r>
            <a:r>
              <a:rPr b="1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cell single-color controls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often have </a:t>
            </a:r>
            <a:r>
              <a:rPr b="0" lang="en-US" sz="22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</a:t>
            </a: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contribution to their signature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>
            <a:off x="0" y="46800"/>
            <a:ext cx="12188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Residual autofluorescence in dim cell single-color controls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1" name="" descr=""/>
          <p:cNvPicPr/>
          <p:nvPr/>
        </p:nvPicPr>
        <p:blipFill>
          <a:blip r:embed="rId1"/>
          <a:stretch/>
        </p:blipFill>
        <p:spPr>
          <a:xfrm>
            <a:off x="457920" y="6172920"/>
            <a:ext cx="1364760" cy="35316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22" name=""/>
          <p:cNvGrpSpPr/>
          <p:nvPr/>
        </p:nvGrpSpPr>
        <p:grpSpPr>
          <a:xfrm>
            <a:off x="4800600" y="1092600"/>
            <a:ext cx="6626520" cy="2104920"/>
            <a:chOff x="4800600" y="1092600"/>
            <a:chExt cx="6626520" cy="2104920"/>
          </a:xfrm>
        </p:grpSpPr>
        <p:pic>
          <p:nvPicPr>
            <p:cNvPr id="323" name="" descr=""/>
            <p:cNvPicPr/>
            <p:nvPr/>
          </p:nvPicPr>
          <p:blipFill>
            <a:blip r:embed="rId2"/>
            <a:srcRect l="0" t="47914" r="29412" b="0"/>
            <a:stretch/>
          </p:blipFill>
          <p:spPr>
            <a:xfrm>
              <a:off x="4800600" y="1100160"/>
              <a:ext cx="6626520" cy="20973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4" name=""/>
            <p:cNvSpPr/>
            <p:nvPr/>
          </p:nvSpPr>
          <p:spPr>
            <a:xfrm>
              <a:off x="5064120" y="1103040"/>
              <a:ext cx="3308760" cy="19080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  <p:sp>
          <p:nvSpPr>
            <p:cNvPr id="325" name=""/>
            <p:cNvSpPr/>
            <p:nvPr/>
          </p:nvSpPr>
          <p:spPr>
            <a:xfrm>
              <a:off x="8028000" y="1092600"/>
              <a:ext cx="3308760" cy="190440"/>
            </a:xfrm>
            <a:prstGeom prst="rect">
              <a:avLst/>
            </a:prstGeom>
            <a:solidFill>
              <a:srgbClr val="ffffff"/>
            </a:solidFill>
            <a:ln w="0">
              <a:solidFill>
                <a:srgbClr val="ffffff"/>
              </a:solidFill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endParaRPr>
            </a:p>
          </p:txBody>
        </p:sp>
      </p:grpSp>
      <p:pic>
        <p:nvPicPr>
          <p:cNvPr id="326" name="Picture 96" descr="A group of images of a square&#10;&#10;AI-generated content may be incorrect."/>
          <p:cNvPicPr/>
          <p:nvPr/>
        </p:nvPicPr>
        <p:blipFill>
          <a:blip r:embed="rId3"/>
          <a:srcRect l="0" t="66985" r="0" b="0"/>
          <a:stretch/>
        </p:blipFill>
        <p:spPr>
          <a:xfrm>
            <a:off x="5029200" y="3373200"/>
            <a:ext cx="6061320" cy="2567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7" name="TextBox 10"/>
          <p:cNvSpPr/>
          <p:nvPr/>
        </p:nvSpPr>
        <p:spPr>
          <a:xfrm>
            <a:off x="5221800" y="5943600"/>
            <a:ext cx="3197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13"/>
          <p:cNvSpPr/>
          <p:nvPr/>
        </p:nvSpPr>
        <p:spPr>
          <a:xfrm>
            <a:off x="8001000" y="5991120"/>
            <a:ext cx="31975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Signature without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residual AF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"/>
          <p:cNvSpPr/>
          <p:nvPr/>
        </p:nvSpPr>
        <p:spPr>
          <a:xfrm rot="7421400">
            <a:off x="9690840" y="1180440"/>
            <a:ext cx="454320" cy="45432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6d6d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1680" cy="1314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good is any tool if the community is not able to use it?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Picture 50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360" cy="392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2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33" name=""/>
          <p:cNvGrpSpPr/>
          <p:nvPr/>
        </p:nvGrpSpPr>
        <p:grpSpPr>
          <a:xfrm>
            <a:off x="5486400" y="1150920"/>
            <a:ext cx="6252840" cy="4335840"/>
            <a:chOff x="5486400" y="1150920"/>
            <a:chExt cx="6252840" cy="4335840"/>
          </a:xfrm>
        </p:grpSpPr>
        <p:pic>
          <p:nvPicPr>
            <p:cNvPr id="334" name="" descr=""/>
            <p:cNvPicPr/>
            <p:nvPr/>
          </p:nvPicPr>
          <p:blipFill>
            <a:blip r:embed="rId3"/>
            <a:stretch/>
          </p:blipFill>
          <p:spPr>
            <a:xfrm>
              <a:off x="5486400" y="1150920"/>
              <a:ext cx="6252840" cy="4335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35" name="" descr=""/>
            <p:cNvPicPr/>
            <p:nvPr/>
          </p:nvPicPr>
          <p:blipFill>
            <a:blip r:embed="rId4"/>
            <a:stretch/>
          </p:blipFill>
          <p:spPr>
            <a:xfrm>
              <a:off x="8780760" y="1379520"/>
              <a:ext cx="2338920" cy="256752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36" name=""/>
          <p:cNvSpPr/>
          <p:nvPr/>
        </p:nvSpPr>
        <p:spPr>
          <a:xfrm>
            <a:off x="444600" y="1150920"/>
            <a:ext cx="4564440" cy="45608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7" name="Rectangle 9"/>
          <p:cNvSpPr/>
          <p:nvPr/>
        </p:nvSpPr>
        <p:spPr>
          <a:xfrm>
            <a:off x="415440" y="1186920"/>
            <a:ext cx="461052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Few resources to learn Cytometry in R to begin with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Those that exist aimed at those with intermediate-advanced R skills, not beginners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Know-how concentrated at a few institutions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Most self-learning attempts end in frustration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1680" cy="1314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in R: A free weekly course for flow cytometrist</a:t>
            </a:r>
            <a:br>
              <a:rPr sz="3200"/>
            </a:b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with no-to-little coding experience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9" name="Picture 51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360" cy="392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0" name="" descr=""/>
          <p:cNvPicPr/>
          <p:nvPr/>
        </p:nvPicPr>
        <p:blipFill>
          <a:blip r:embed="rId2"/>
          <a:stretch/>
        </p:blipFill>
        <p:spPr>
          <a:xfrm>
            <a:off x="3500640" y="1081800"/>
            <a:ext cx="6818040" cy="1509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1" name="" descr=""/>
          <p:cNvPicPr/>
          <p:nvPr/>
        </p:nvPicPr>
        <p:blipFill>
          <a:blip r:embed="rId3"/>
          <a:stretch/>
        </p:blipFill>
        <p:spPr>
          <a:xfrm>
            <a:off x="3483720" y="2774160"/>
            <a:ext cx="6834960" cy="4014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2" name="Picture 52" descr=""/>
          <p:cNvPicPr/>
          <p:nvPr/>
        </p:nvPicPr>
        <p:blipFill>
          <a:blip r:embed="rId4"/>
          <a:stretch/>
        </p:blipFill>
        <p:spPr>
          <a:xfrm>
            <a:off x="757800" y="1094760"/>
            <a:ext cx="1970280" cy="1451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3" name="Graphic 2" descr="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964800" y="3429000"/>
            <a:ext cx="1352880" cy="1190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PlaceHolder 27"/>
          <p:cNvSpPr/>
          <p:nvPr/>
        </p:nvSpPr>
        <p:spPr>
          <a:xfrm>
            <a:off x="613800" y="4836600"/>
            <a:ext cx="1547280" cy="104436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rmAutofit/>
          </a:bodyPr>
          <a:p>
            <a:pPr marL="432000" algn="ctr" defTabSz="914400">
              <a:lnSpc>
                <a:spcPts val="72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5" name="" descr=""/>
          <p:cNvPicPr/>
          <p:nvPr/>
        </p:nvPicPr>
        <p:blipFill>
          <a:blip r:embed="rId7"/>
          <a:stretch/>
        </p:blipFill>
        <p:spPr>
          <a:xfrm>
            <a:off x="457200" y="6172200"/>
            <a:ext cx="1364400" cy="35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"/>
          <p:cNvSpPr/>
          <p:nvPr/>
        </p:nvSpPr>
        <p:spPr>
          <a:xfrm>
            <a:off x="6629400" y="1467000"/>
            <a:ext cx="4337640" cy="37850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47" name="" descr=""/>
          <p:cNvPicPr/>
          <p:nvPr/>
        </p:nvPicPr>
        <p:blipFill>
          <a:blip r:embed="rId1"/>
          <a:stretch/>
        </p:blipFill>
        <p:spPr>
          <a:xfrm>
            <a:off x="228600" y="868320"/>
            <a:ext cx="5708880" cy="552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120" cy="1316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YouTube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Rectangle 23"/>
          <p:cNvSpPr/>
          <p:nvPr/>
        </p:nvSpPr>
        <p:spPr>
          <a:xfrm>
            <a:off x="6665400" y="1467000"/>
            <a:ext cx="459504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Three live-streams a week (accommodating different timezones and schedules)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Recordings available immediately after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Best of the weekly livestreams added to the playlist, cutting down on editing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0" name="Picture 136" descr=""/>
          <p:cNvPicPr/>
          <p:nvPr/>
        </p:nvPicPr>
        <p:blipFill>
          <a:blip r:embed="rId2"/>
          <a:stretch/>
        </p:blipFill>
        <p:spPr>
          <a:xfrm>
            <a:off x="10435680" y="617220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1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"/>
          <p:cNvSpPr/>
          <p:nvPr/>
        </p:nvSpPr>
        <p:spPr>
          <a:xfrm>
            <a:off x="252000" y="1238040"/>
            <a:ext cx="4650480" cy="42422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120" cy="1316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Website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Rectangle 24"/>
          <p:cNvSpPr/>
          <p:nvPr/>
        </p:nvSpPr>
        <p:spPr>
          <a:xfrm>
            <a:off x="307440" y="1443600"/>
            <a:ext cx="459504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Created with Quarto, hosted via GitHub pages.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Code, code outputs, screenshots and explanations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Searchable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New weekly material added as a new .qmd file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5" name="Picture 137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6" name="" descr=""/>
          <p:cNvPicPr/>
          <p:nvPr/>
        </p:nvPicPr>
        <p:blipFill>
          <a:blip r:embed="rId2"/>
          <a:stretch/>
        </p:blipFill>
        <p:spPr>
          <a:xfrm>
            <a:off x="5029200" y="1062000"/>
            <a:ext cx="5397480" cy="4417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7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5840" cy="354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>
            <a:off x="6773760" y="914400"/>
            <a:ext cx="4650480" cy="47948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120" cy="1316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Rectangle 25"/>
          <p:cNvSpPr/>
          <p:nvPr/>
        </p:nvSpPr>
        <p:spPr>
          <a:xfrm>
            <a:off x="6828480" y="1048680"/>
            <a:ext cx="4595040" cy="447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Code and datasets available via the GitHub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Course participants start course by creating GitHub account and forking the repository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After Positron is linked to GitHub account, pull locally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When new material posted each week, sync and pull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Picture 13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2" name="" descr=""/>
          <p:cNvPicPr/>
          <p:nvPr/>
        </p:nvPicPr>
        <p:blipFill>
          <a:blip r:embed="rId2"/>
          <a:stretch/>
        </p:blipFill>
        <p:spPr>
          <a:xfrm>
            <a:off x="457200" y="914400"/>
            <a:ext cx="6040800" cy="4809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>
            <a:off x="685800" y="2561400"/>
            <a:ext cx="4650480" cy="13658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4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3120" cy="13161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Discussion Forum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Rectangle 26"/>
          <p:cNvSpPr/>
          <p:nvPr/>
        </p:nvSpPr>
        <p:spPr>
          <a:xfrm>
            <a:off x="717480" y="2561400"/>
            <a:ext cx="459504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GitHub Discussions page has been repurposed as a community forum for questions, etc.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6" name="Picture 139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5800" cy="39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7" name="" descr=""/>
          <p:cNvPicPr/>
          <p:nvPr/>
        </p:nvPicPr>
        <p:blipFill>
          <a:blip r:embed="rId2"/>
          <a:stretch/>
        </p:blipFill>
        <p:spPr>
          <a:xfrm>
            <a:off x="5591520" y="914400"/>
            <a:ext cx="5832720" cy="503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"/>
          <p:cNvSpPr/>
          <p:nvPr/>
        </p:nvSpPr>
        <p:spPr>
          <a:xfrm>
            <a:off x="2569320" y="4523400"/>
            <a:ext cx="6621840" cy="15926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1680" cy="1314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Half-way through this passion project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Rectangle 4"/>
          <p:cNvSpPr/>
          <p:nvPr/>
        </p:nvSpPr>
        <p:spPr>
          <a:xfrm>
            <a:off x="2569320" y="4523400"/>
            <a:ext cx="702324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Wrapping up Cytometry Core module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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Gathering steam to start on the Unsupervised Analysis section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1" name="Picture 53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360" cy="392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2" name="" descr=""/>
          <p:cNvPicPr/>
          <p:nvPr/>
        </p:nvPicPr>
        <p:blipFill>
          <a:blip r:embed="rId2"/>
          <a:stretch/>
        </p:blipFill>
        <p:spPr>
          <a:xfrm>
            <a:off x="228600" y="914400"/>
            <a:ext cx="11652840" cy="3440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3" name="" descr=""/>
          <p:cNvPicPr/>
          <p:nvPr/>
        </p:nvPicPr>
        <p:blipFill>
          <a:blip r:embed="rId3"/>
          <a:stretch/>
        </p:blipFill>
        <p:spPr>
          <a:xfrm>
            <a:off x="457200" y="617220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"/>
          <p:cNvSpPr/>
          <p:nvPr/>
        </p:nvSpPr>
        <p:spPr>
          <a:xfrm rot="19411800">
            <a:off x="10548720" y="793440"/>
            <a:ext cx="453960" cy="9111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983b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1680" cy="1314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As scientist, our community is our strength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6" name="Picture 48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360" cy="392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7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8" name="" descr=""/>
          <p:cNvPicPr/>
          <p:nvPr/>
        </p:nvPicPr>
        <p:blipFill>
          <a:blip r:embed="rId3"/>
          <a:srcRect l="0" t="0" r="32212" b="0"/>
          <a:stretch/>
        </p:blipFill>
        <p:spPr>
          <a:xfrm>
            <a:off x="2971800" y="1371600"/>
            <a:ext cx="4328640" cy="3482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0" y="-182520"/>
            <a:ext cx="12181680" cy="1314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Just my two over-caffeinated cents 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0" name="Picture 62" descr=""/>
          <p:cNvPicPr/>
          <p:nvPr/>
        </p:nvPicPr>
        <p:blipFill>
          <a:blip r:embed="rId1"/>
          <a:stretch/>
        </p:blipFill>
        <p:spPr>
          <a:xfrm>
            <a:off x="10435680" y="6172200"/>
            <a:ext cx="1134360" cy="392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1" name="" descr=""/>
          <p:cNvPicPr/>
          <p:nvPr/>
        </p:nvPicPr>
        <p:blipFill>
          <a:blip r:embed="rId2"/>
          <a:stretch/>
        </p:blipFill>
        <p:spPr>
          <a:xfrm>
            <a:off x="457200" y="617220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2" name="" descr=""/>
          <p:cNvPicPr/>
          <p:nvPr/>
        </p:nvPicPr>
        <p:blipFill>
          <a:blip r:embed="rId3"/>
          <a:stretch/>
        </p:blipFill>
        <p:spPr>
          <a:xfrm>
            <a:off x="2871720" y="1233720"/>
            <a:ext cx="6957360" cy="3794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"/>
          <p:cNvSpPr/>
          <p:nvPr/>
        </p:nvSpPr>
        <p:spPr>
          <a:xfrm>
            <a:off x="8686800" y="5137200"/>
            <a:ext cx="3089160" cy="4179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4" name=""/>
          <p:cNvSpPr/>
          <p:nvPr/>
        </p:nvSpPr>
        <p:spPr>
          <a:xfrm>
            <a:off x="349200" y="4885200"/>
            <a:ext cx="2162160" cy="5979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5" name=""/>
          <p:cNvSpPr/>
          <p:nvPr/>
        </p:nvSpPr>
        <p:spPr>
          <a:xfrm>
            <a:off x="10395000" y="2685600"/>
            <a:ext cx="1364040" cy="6782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6" name=""/>
          <p:cNvSpPr/>
          <p:nvPr/>
        </p:nvSpPr>
        <p:spPr>
          <a:xfrm>
            <a:off x="8458200" y="2649600"/>
            <a:ext cx="1364040" cy="6782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7" name=""/>
          <p:cNvSpPr/>
          <p:nvPr/>
        </p:nvSpPr>
        <p:spPr>
          <a:xfrm>
            <a:off x="4102200" y="3828600"/>
            <a:ext cx="3895560" cy="21117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8" name=""/>
          <p:cNvSpPr/>
          <p:nvPr/>
        </p:nvSpPr>
        <p:spPr>
          <a:xfrm>
            <a:off x="349200" y="3803400"/>
            <a:ext cx="2159640" cy="9086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9" name=""/>
          <p:cNvSpPr/>
          <p:nvPr/>
        </p:nvSpPr>
        <p:spPr>
          <a:xfrm>
            <a:off x="349200" y="1204200"/>
            <a:ext cx="3421440" cy="6800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0" name=""/>
          <p:cNvSpPr/>
          <p:nvPr/>
        </p:nvSpPr>
        <p:spPr>
          <a:xfrm>
            <a:off x="338400" y="2118600"/>
            <a:ext cx="3421440" cy="159264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3886200" y="46080"/>
            <a:ext cx="4561200" cy="131472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sng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Acknowledgments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2" name="Picture 54" descr=""/>
          <p:cNvPicPr/>
          <p:nvPr/>
        </p:nvPicPr>
        <p:blipFill>
          <a:blip r:embed="rId1"/>
          <a:stretch/>
        </p:blipFill>
        <p:spPr>
          <a:xfrm>
            <a:off x="9290520" y="3457800"/>
            <a:ext cx="2360520" cy="419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3" name="Picture 55" descr=""/>
          <p:cNvPicPr/>
          <p:nvPr/>
        </p:nvPicPr>
        <p:blipFill>
          <a:blip r:embed="rId2"/>
          <a:stretch/>
        </p:blipFill>
        <p:spPr>
          <a:xfrm>
            <a:off x="9673200" y="3812400"/>
            <a:ext cx="1979280" cy="39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Content Placeholder 1"/>
          <p:cNvSpPr/>
          <p:nvPr/>
        </p:nvSpPr>
        <p:spPr>
          <a:xfrm>
            <a:off x="228600" y="3803400"/>
            <a:ext cx="3969000" cy="18180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Cristiana Cairo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Kirsten E. Lyke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Xiaoxuan Fan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23"/>
          <p:cNvSpPr/>
          <p:nvPr/>
        </p:nvSpPr>
        <p:spPr>
          <a:xfrm>
            <a:off x="255240" y="1215000"/>
            <a:ext cx="3396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mothers and their infants, and their communities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24"/>
          <p:cNvSpPr/>
          <p:nvPr/>
        </p:nvSpPr>
        <p:spPr>
          <a:xfrm>
            <a:off x="302400" y="2203200"/>
            <a:ext cx="3396600" cy="146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All the open-source contributors, developers, and maintainers, that collectively made the tool sets without which all of this would not be feasible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Content Placeholder 3"/>
          <p:cNvSpPr/>
          <p:nvPr/>
        </p:nvSpPr>
        <p:spPr>
          <a:xfrm>
            <a:off x="9829800" y="1486800"/>
            <a:ext cx="3969000" cy="1818000"/>
          </a:xfrm>
          <a:prstGeom prst="rect">
            <a:avLst/>
          </a:prstGeom>
          <a:noFill/>
          <a:ln w="1908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108000" defTabSz="914400">
              <a:lnSpc>
                <a:spcPct val="10000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r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720"/>
              </a:lnSpc>
              <a:spcBef>
                <a:spcPts val="1417"/>
              </a:spcBef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25"/>
          <p:cNvSpPr/>
          <p:nvPr/>
        </p:nvSpPr>
        <p:spPr>
          <a:xfrm>
            <a:off x="8001000" y="2846880"/>
            <a:ext cx="2253600" cy="41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Cytometry 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Discord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26"/>
          <p:cNvSpPr/>
          <p:nvPr/>
        </p:nvSpPr>
        <p:spPr>
          <a:xfrm>
            <a:off x="10287000" y="2895120"/>
            <a:ext cx="156780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spAutoFit/>
          </a:bodyPr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Bioconductor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Zulip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0" name="Picture 56" descr=""/>
          <p:cNvPicPr/>
          <p:nvPr/>
        </p:nvPicPr>
        <p:blipFill>
          <a:blip r:embed="rId3"/>
          <a:stretch/>
        </p:blipFill>
        <p:spPr>
          <a:xfrm>
            <a:off x="9144000" y="5715000"/>
            <a:ext cx="2739960" cy="107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1" name="Graphic 6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218880" y="5771520"/>
            <a:ext cx="3435480" cy="89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2" name="TextBox 27"/>
          <p:cNvSpPr/>
          <p:nvPr/>
        </p:nvSpPr>
        <p:spPr>
          <a:xfrm>
            <a:off x="228600" y="5065200"/>
            <a:ext cx="3497760" cy="39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7080" bIns="37080" anchor="t">
            <a:spAutoFit/>
          </a:bodyPr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Daniela Franco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8000" defTabSz="914400">
              <a:lnSpc>
                <a:spcPts val="575"/>
              </a:lnSpc>
              <a:spcBef>
                <a:spcPts val="1417"/>
              </a:spcBef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Dr. Natarajan Ayithan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3" name="" descr=""/>
          <p:cNvPicPr/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>
          <a:xfrm>
            <a:off x="8350200" y="1036800"/>
            <a:ext cx="1592640" cy="159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4" name="" descr=""/>
          <p:cNvPicPr/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/>
        </p:blipFill>
        <p:spPr>
          <a:xfrm>
            <a:off x="10251000" y="1062000"/>
            <a:ext cx="1592640" cy="159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5" name="Picture 57" descr="A picture containing text, person, indoor, working&#10;&#10;Description automatically generated"/>
          <p:cNvPicPr/>
          <p:nvPr/>
        </p:nvPicPr>
        <p:blipFill>
          <a:blip r:embed="rId10"/>
          <a:stretch/>
        </p:blipFill>
        <p:spPr>
          <a:xfrm>
            <a:off x="4305240" y="1234080"/>
            <a:ext cx="3575880" cy="2427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6" name="Picture 58" descr=""/>
          <p:cNvPicPr/>
          <p:nvPr/>
        </p:nvPicPr>
        <p:blipFill>
          <a:blip r:embed="rId11"/>
          <a:stretch/>
        </p:blipFill>
        <p:spPr>
          <a:xfrm>
            <a:off x="156600" y="122400"/>
            <a:ext cx="3575880" cy="93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7" name="Picture 59" descr=""/>
          <p:cNvPicPr/>
          <p:nvPr/>
        </p:nvPicPr>
        <p:blipFill>
          <a:blip r:embed="rId12"/>
          <a:stretch/>
        </p:blipFill>
        <p:spPr>
          <a:xfrm>
            <a:off x="9493200" y="109080"/>
            <a:ext cx="2511360" cy="939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Rectangle 14"/>
          <p:cNvSpPr/>
          <p:nvPr/>
        </p:nvSpPr>
        <p:spPr>
          <a:xfrm>
            <a:off x="4138200" y="3850200"/>
            <a:ext cx="3738960" cy="20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U01 HD092309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This publication was supported by funds through Maryland Department of Health’s Cigarette Restitution Fund Program – CH- 649-CRF and the National Cancer Institute – Cancer Center Support Grant (CCSG) – P30CA134274.d Service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Rectangle 15"/>
          <p:cNvSpPr/>
          <p:nvPr/>
        </p:nvSpPr>
        <p:spPr>
          <a:xfrm>
            <a:off x="8602200" y="4201200"/>
            <a:ext cx="373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www.linkedin.com/in/david-rach/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0" name="" descr=""/>
          <p:cNvPicPr/>
          <p:nvPr/>
        </p:nvPicPr>
        <p:blipFill>
          <a:blip r:embed="rId13"/>
          <a:stretch/>
        </p:blipFill>
        <p:spPr>
          <a:xfrm>
            <a:off x="8769600" y="4201200"/>
            <a:ext cx="398880" cy="35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"/>
          <p:cNvSpPr/>
          <p:nvPr/>
        </p:nvSpPr>
        <p:spPr>
          <a:xfrm>
            <a:off x="8686800" y="4597200"/>
            <a:ext cx="3089160" cy="417960"/>
          </a:xfrm>
          <a:prstGeom prst="rect">
            <a:avLst/>
          </a:prstGeom>
          <a:solidFill>
            <a:srgbClr val="ffffff"/>
          </a:solidFill>
          <a:ln w="18360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9000" rIns="99000" tIns="54000" bIns="54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2" name=""/>
          <p:cNvSpPr/>
          <p:nvPr/>
        </p:nvSpPr>
        <p:spPr>
          <a:xfrm>
            <a:off x="8686800" y="4633200"/>
            <a:ext cx="3004560" cy="4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Want to collaborate? Reach out!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>
            <a:off x="7894800" y="5172840"/>
            <a:ext cx="30045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                       Hiring?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4" name="" descr=""/>
          <p:cNvPicPr/>
          <p:nvPr/>
        </p:nvPicPr>
        <p:blipFill>
          <a:blip r:embed="rId14"/>
          <a:stretch/>
        </p:blipFill>
        <p:spPr>
          <a:xfrm>
            <a:off x="10395000" y="5208840"/>
            <a:ext cx="399240" cy="333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title"/>
          </p:nvPr>
        </p:nvSpPr>
        <p:spPr>
          <a:xfrm>
            <a:off x="1143000" y="-182520"/>
            <a:ext cx="10052640" cy="1319760"/>
          </a:xfrm>
          <a:prstGeom prst="rect">
            <a:avLst/>
          </a:prstGeom>
          <a:noFill/>
          <a:ln w="19080">
            <a:noFill/>
          </a:ln>
        </p:spPr>
        <p:txBody>
          <a:bodyPr lIns="91440" rIns="91440" tIns="45720" bIns="45720" anchor="ctr" anchorCtr="1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Rectangle 192"/>
          <p:cNvSpPr/>
          <p:nvPr/>
        </p:nvSpPr>
        <p:spPr>
          <a:xfrm>
            <a:off x="8557200" y="2791800"/>
            <a:ext cx="2966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UMGCCC FCSR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dashboard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Rectangle 193"/>
          <p:cNvSpPr/>
          <p:nvPr/>
        </p:nvSpPr>
        <p:spPr>
          <a:xfrm>
            <a:off x="4991400" y="5257800"/>
            <a:ext cx="296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YouTube </a:t>
            </a: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@CytometryInR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Rectangle 194"/>
          <p:cNvSpPr/>
          <p:nvPr/>
        </p:nvSpPr>
        <p:spPr>
          <a:xfrm>
            <a:off x="4991400" y="2791800"/>
            <a:ext cx="2966040" cy="68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Website - CytometryInR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Rectangle 195"/>
          <p:cNvSpPr/>
          <p:nvPr/>
        </p:nvSpPr>
        <p:spPr>
          <a:xfrm>
            <a:off x="876600" y="2791800"/>
            <a:ext cx="296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Luciernaga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Rectangle 196"/>
          <p:cNvSpPr/>
          <p:nvPr/>
        </p:nvSpPr>
        <p:spPr>
          <a:xfrm>
            <a:off x="876600" y="5257800"/>
            <a:ext cx="2966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Coereba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Rectangle 197"/>
          <p:cNvSpPr/>
          <p:nvPr/>
        </p:nvSpPr>
        <p:spPr>
          <a:xfrm>
            <a:off x="8557200" y="5029200"/>
            <a:ext cx="2966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InstrumentQC How-To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2" name="Picture 198" descr=""/>
          <p:cNvPicPr/>
          <p:nvPr/>
        </p:nvPicPr>
        <p:blipFill>
          <a:blip r:embed="rId1"/>
          <a:stretch/>
        </p:blipFill>
        <p:spPr>
          <a:xfrm>
            <a:off x="4023000" y="3578400"/>
            <a:ext cx="210564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3" name="Picture 199" descr=""/>
          <p:cNvPicPr/>
          <p:nvPr/>
        </p:nvPicPr>
        <p:blipFill>
          <a:blip r:embed="rId2"/>
          <a:stretch/>
        </p:blipFill>
        <p:spPr>
          <a:xfrm>
            <a:off x="171720" y="3596400"/>
            <a:ext cx="184212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4" name="Picture 200" descr=""/>
          <p:cNvPicPr/>
          <p:nvPr/>
        </p:nvPicPr>
        <p:blipFill>
          <a:blip r:embed="rId3"/>
          <a:stretch/>
        </p:blipFill>
        <p:spPr>
          <a:xfrm>
            <a:off x="8557200" y="3673440"/>
            <a:ext cx="1365840" cy="157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5" name="Picture 201" descr=""/>
          <p:cNvPicPr/>
          <p:nvPr/>
        </p:nvPicPr>
        <p:blipFill>
          <a:blip r:embed="rId4"/>
          <a:stretch/>
        </p:blipFill>
        <p:spPr>
          <a:xfrm>
            <a:off x="208080" y="1071000"/>
            <a:ext cx="184176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6" name="Picture 202" descr=""/>
          <p:cNvPicPr/>
          <p:nvPr/>
        </p:nvPicPr>
        <p:blipFill>
          <a:blip r:embed="rId5"/>
          <a:srcRect l="33723" t="6681" r="35970" b="0"/>
          <a:stretch/>
        </p:blipFill>
        <p:spPr>
          <a:xfrm rot="24000">
            <a:off x="8187120" y="1120320"/>
            <a:ext cx="1953000" cy="158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7" name="Picture 203" descr=""/>
          <p:cNvPicPr/>
          <p:nvPr/>
        </p:nvPicPr>
        <p:blipFill>
          <a:blip r:embed="rId6"/>
          <a:stretch/>
        </p:blipFill>
        <p:spPr>
          <a:xfrm>
            <a:off x="4023000" y="1035000"/>
            <a:ext cx="210564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8" name="Graphic 204" descr=""/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>
          <a:xfrm>
            <a:off x="2140200" y="3429000"/>
            <a:ext cx="1823040" cy="182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9" name="Graphic 205" descr=""/>
          <p:cNvPicPr/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>
          <a:xfrm>
            <a:off x="6134400" y="3429000"/>
            <a:ext cx="1823040" cy="182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0" name="Graphic 206" descr=""/>
          <p:cNvPicPr/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/>
        </p:blipFill>
        <p:spPr>
          <a:xfrm>
            <a:off x="2140200" y="927000"/>
            <a:ext cx="1823040" cy="182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1" name="Graphic 207" descr=""/>
          <p:cNvPicPr/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/>
        </p:blipFill>
        <p:spPr>
          <a:xfrm>
            <a:off x="10121400" y="963000"/>
            <a:ext cx="1823040" cy="182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2" name="Graphic 208" descr=""/>
          <p:cNvPicPr/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/>
        </p:blipFill>
        <p:spPr>
          <a:xfrm>
            <a:off x="10157400" y="3537000"/>
            <a:ext cx="1687320" cy="1687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3" name="Graphic 209" descr=""/>
          <p:cNvPicPr/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/>
        </p:blipFill>
        <p:spPr>
          <a:xfrm>
            <a:off x="6134400" y="963000"/>
            <a:ext cx="1823040" cy="182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4" name="" descr=""/>
          <p:cNvPicPr/>
          <p:nvPr/>
        </p:nvPicPr>
        <p:blipFill>
          <a:blip r:embed="rId19"/>
          <a:stretch/>
        </p:blipFill>
        <p:spPr>
          <a:xfrm>
            <a:off x="230760" y="6172920"/>
            <a:ext cx="1364400" cy="352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35" name="Picture 49" descr=""/>
          <p:cNvPicPr/>
          <p:nvPr/>
        </p:nvPicPr>
        <p:blipFill>
          <a:blip r:embed="rId20"/>
          <a:stretch/>
        </p:blipFill>
        <p:spPr>
          <a:xfrm>
            <a:off x="10435680" y="6172560"/>
            <a:ext cx="1134360" cy="392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672</TotalTime>
  <Application>LibreOffice/25.2.3.2$Linux_X86_64 LibreOffice_project/520$Build-2</Application>
  <AppVersion>15.0000</AppVersion>
  <Words>1146</Words>
  <Paragraphs>268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2025-07-21T11:58:18Z</dcterms:created>
  <dc:creator>Thomas Evans</dc:creator>
  <dc:description/>
  <dc:language>en-US</dc:language>
  <cp:lastModifiedBy/>
  <dcterms:modified xsi:type="dcterms:W3CDTF">2026-10-24T20:54:21Z</dcterms:modified>
  <cp:revision>75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0x010100804A9A38EF1C6344A4E9D5FEC9AF05B5</vt:lpwstr>
  </property>
  <property fmtid="{D5CDD505-2E9C-101B-9397-08002B2CF9AE}" pid="3" name="Notes">
    <vt:i4>3</vt:i4>
  </property>
  <property fmtid="{D5CDD505-2E9C-101B-9397-08002B2CF9AE}" pid="4" name="PresentationFormat">
    <vt:lpwstr>Widescreen</vt:lpwstr>
  </property>
  <property fmtid="{D5CDD505-2E9C-101B-9397-08002B2CF9AE}" pid="5" name="Slides">
    <vt:i4>39</vt:i4>
  </property>
  <property fmtid="{D5CDD505-2E9C-101B-9397-08002B2CF9AE}" pid="6" name="_dlc_DocIdItemGuid">
    <vt:lpwstr>4d3e5825-e8bc-4995-b9ad-4f8ee15e5c87</vt:lpwstr>
  </property>
</Properties>
</file>