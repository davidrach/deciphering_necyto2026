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2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8.png" ContentType="image/png"/>
  <Override PartName="/ppt/media/image56.png" ContentType="image/png"/>
  <Override PartName="/ppt/media/image55.jpeg" ContentType="image/jpeg"/>
  <Override PartName="/ppt/media/image17.png" ContentType="image/png"/>
  <Override PartName="/ppt/media/image53.png" ContentType="image/png"/>
  <Override PartName="/ppt/media/image52.svg" ContentType="image/svg"/>
  <Override PartName="/ppt/media/image51.png" ContentType="image/png"/>
  <Override PartName="/ppt/media/image50.png" ContentType="image/png"/>
  <Override PartName="/ppt/media/image49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37.png" ContentType="image/png"/>
  <Override PartName="/ppt/media/image33.png" ContentType="image/png"/>
  <Override PartName="/ppt/media/image34.png" ContentType="image/png"/>
  <Override PartName="/ppt/media/image21.svg" ContentType="image/svg"/>
  <Override PartName="/ppt/media/image38.png" ContentType="image/png"/>
  <Override PartName="/ppt/media/image6.png" ContentType="image/png"/>
  <Override PartName="/ppt/media/image15.png" ContentType="image/png"/>
  <Override PartName="/ppt/media/image28.svg" ContentType="image/svg"/>
  <Override PartName="/ppt/media/image19.png" ContentType="image/png"/>
  <Override PartName="/ppt/media/image61.png" ContentType="image/png"/>
  <Override PartName="/ppt/media/image67.png" ContentType="image/png"/>
  <Override PartName="/ppt/media/image30.png" ContentType="image/png"/>
  <Override PartName="/ppt/media/image8.jpeg" ContentType="image/jpeg"/>
  <Override PartName="/ppt/media/image26.png" ContentType="image/png"/>
  <Override PartName="/ppt/media/image63.png" ContentType="image/png"/>
  <Override PartName="/ppt/media/image5.png" ContentType="image/png"/>
  <Override PartName="/ppt/media/image14.png" ContentType="image/png"/>
  <Override PartName="/ppt/media/image62.svg" ContentType="image/svg"/>
  <Override PartName="/ppt/media/image25.png" ContentType="image/png"/>
  <Override PartName="/ppt/media/image29.png" ContentType="image/png"/>
  <Override PartName="/ppt/media/image27.png" ContentType="image/png"/>
  <Override PartName="/ppt/media/image60.png" ContentType="image/png"/>
  <Override PartName="/ppt/media/image9.png" ContentType="image/png"/>
  <Override PartName="/ppt/media/image18.png" ContentType="image/png"/>
  <Override PartName="/ppt/media/image23.png" ContentType="image/png"/>
  <Override PartName="/ppt/media/image59.png" ContentType="image/png"/>
  <Override PartName="/ppt/media/image22.png" ContentType="image/png"/>
  <Override PartName="/ppt/media/image66.svg" ContentType="image/svg"/>
  <Override PartName="/ppt/media/image42.png" ContentType="image/png"/>
  <Override PartName="/ppt/media/image47.jpeg" ContentType="image/jpeg"/>
  <Override PartName="/ppt/media/image24.png" ContentType="image/png"/>
  <Override PartName="/ppt/media/image68.svg" ContentType="image/svg"/>
  <Override PartName="/ppt/media/image44.png" ContentType="image/png"/>
  <Override PartName="/ppt/media/image2.png" ContentType="image/png"/>
  <Override PartName="/ppt/media/image11.png" ContentType="image/png"/>
  <Override PartName="/ppt/media/image12.svg" ContentType="image/svg"/>
  <Override PartName="/ppt/media/image3.svg" ContentType="image/svg"/>
  <Override PartName="/ppt/media/image40.png" ContentType="image/png"/>
  <Override PartName="/ppt/media/image64.svg" ContentType="image/svg"/>
  <Override PartName="/ppt/media/image20.png" ContentType="image/png"/>
  <Override PartName="/ppt/media/image57.png" ContentType="image/png"/>
  <Override PartName="/ppt/media/image36.png" ContentType="image/png"/>
  <Override PartName="/ppt/media/image4.png" ContentType="image/png"/>
  <Override PartName="/ppt/media/image13.png" ContentType="image/png"/>
  <Override PartName="/ppt/media/image1.png" ContentType="image/png"/>
  <Override PartName="/ppt/media/image54.svg" ContentType="image/svg"/>
  <Override PartName="/ppt/media/image10.png" ContentType="image/png"/>
  <Override PartName="/ppt/media/image31.png" ContentType="image/png"/>
  <Override PartName="/ppt/media/image32.png" ContentType="image/png"/>
  <Override PartName="/ppt/media/image65.png" ContentType="image/png"/>
  <Override PartName="/ppt/media/image35.jpeg" ContentType="image/jpeg"/>
  <Override PartName="/ppt/media/image41.svg" ContentType="image/svg"/>
  <Override PartName="/ppt/media/image43.png" ContentType="image/png"/>
  <Override PartName="/ppt/media/image45.png" ContentType="image/png"/>
  <Override PartName="/ppt/media/image46.png" ContentType="image/png"/>
  <Override PartName="/ppt/media/image48.jpeg" ContentType="image/jpeg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2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29.xml" ContentType="application/vnd.openxmlformats-officedocument.presentationml.slide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1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62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79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78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77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63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28.xml.rels" ContentType="application/vnd.openxmlformats-package.relationships+xml"/>
  <Override PartName="/ppt/slides/_rels/slide70.xml.rels" ContentType="application/vnd.openxmlformats-package.relationships+xml"/>
  <Override PartName="/ppt/slides/_rels/slide65.xml.rels" ContentType="application/vnd.openxmlformats-package.relationships+xml"/>
  <Override PartName="/ppt/slides/_rels/slide71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76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73.xml.rels" ContentType="application/vnd.openxmlformats-package.relationships+xml"/>
  <Override PartName="/ppt/slides/_rels/slide72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46.xml.rels" ContentType="application/vnd.openxmlformats-package.relationships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79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78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_rels/notesSlide79.xml.rels" ContentType="application/vnd.openxmlformats-package.relationships+xml"/>
  <Override PartName="/ppt/notesSlides/notesSlide7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60" r:id="rId5"/>
    <p:sldMasterId id="2147483670" r:id="rId6"/>
    <p:sldMasterId id="2147483672" r:id="rId7"/>
    <p:sldMasterId id="2147483674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8.xml"/><Relationship Id="rId6" Type="http://schemas.openxmlformats.org/officeDocument/2006/relationships/slideMaster" Target="slideMasters/slideMaster17.xml"/><Relationship Id="rId7" Type="http://schemas.openxmlformats.org/officeDocument/2006/relationships/slideMaster" Target="slideMasters/slideMaster18.xml"/><Relationship Id="rId8" Type="http://schemas.openxmlformats.org/officeDocument/2006/relationships/slideMaster" Target="slideMasters/slideMaster19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6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ftr" idx="6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sldNum" idx="6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CF1776-20A5-4F9F-9380-7407BFB2073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23520" cy="338508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07480" cy="39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67"/>
          </p:nvPr>
        </p:nvSpPr>
        <p:spPr>
          <a:xfrm>
            <a:off x="4402080" y="9553680"/>
            <a:ext cx="3359520" cy="49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DD7F1C-DFC8-4A65-A6F7-81742D5827E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094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5320" y="160452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09480" y="160812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625320" y="160812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53A8C3-8142-490D-84D4-5016AC3538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1-title-Title-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0948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4816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4816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4816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4816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0752DF-9984-4AA8-BD44-39FF5AEEA6F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0948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2692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2692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2692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2692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2692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26920" cy="18907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6522E7-A01F-4C3F-9FCD-E4C99E14280D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aster1-Layout2-obj-Title-and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67680" cy="1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12411D-F753-48D4-BFFF-BAFA9E13E6B1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863103-9A7A-42D3-B773-92AE4781A24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BD07D9-70F5-4818-9E5E-E753477E3E1B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6C738C-8DAE-4B8A-BC64-073446080DD3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A1E0C0-62EB-4843-BEFD-958DA245B923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4C061F-E612-425D-A200-6572FB1C3B1D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8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1776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1776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48CA8C-3F5A-4936-9E12-ACECCCB48ED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aster1-Layout2-obj-Title-and-Conten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3680" cy="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7BE24E-DCA0-498C-80D6-76C4FE5D1219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F77C7D-1617-4877-AE4C-724F3FACD911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1776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1776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C72D0D-D192-4637-ADB3-5F867575A7B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8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1776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0948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61776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09E174-ECD9-4BC3-86B3-E9B2E1789A32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8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1776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0948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61776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30A90C-3301-4BCA-AD6D-1C9B736E359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1776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60948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1776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54D73E-1B62-4F92-843A-2B82BB7B176A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8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61776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60948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1776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B41EA7-96B7-4A4E-9D1B-077F330C1B0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8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88740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17760" y="16045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60948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body"/>
          </p:nvPr>
        </p:nvSpPr>
        <p:spPr>
          <a:xfrm>
            <a:off x="617760" y="1606320"/>
            <a:ext cx="540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23F367-8230-400F-8CC1-0C43C27D157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8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094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609480" y="-2266200"/>
            <a:ext cx="3096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181BA1D4-2194-4339-9B98-99547C6D9A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094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F34ED7AD-8DFB-4E2D-9D39-956C18A759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094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609480" y="-2266200"/>
            <a:ext cx="3096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03F23CFC-759D-420B-9348-37FC40094C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9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20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5680" y="160452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0848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25680" y="1608480"/>
            <a:ext cx="14760" cy="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4F9AFA-F34E-42DE-BBBC-BBC4CF5ABD9B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ftr" idx="55"/>
          </p:nvPr>
        </p:nvSpPr>
        <p:spPr>
          <a:xfrm>
            <a:off x="3447360" y="5165280"/>
            <a:ext cx="3187440" cy="38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56"/>
          </p:nvPr>
        </p:nvSpPr>
        <p:spPr>
          <a:xfrm>
            <a:off x="7227360" y="5165280"/>
            <a:ext cx="2340720" cy="38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A9E608-2B43-4622-AE48-203E4556A2B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dt" idx="57"/>
          </p:nvPr>
        </p:nvSpPr>
        <p:spPr>
          <a:xfrm>
            <a:off x="504000" y="5165280"/>
            <a:ext cx="2340720" cy="38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0960" cy="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050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30CBA7-50A2-4AF8-B064-1459D53B1F3E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3480" cy="355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0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ftr" idx="61"/>
          </p:nvPr>
        </p:nvSpPr>
        <p:spPr>
          <a:xfrm>
            <a:off x="3447360" y="5165280"/>
            <a:ext cx="3188520" cy="3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62"/>
          </p:nvPr>
        </p:nvSpPr>
        <p:spPr>
          <a:xfrm>
            <a:off x="7227360" y="5165280"/>
            <a:ext cx="2341800" cy="3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BA91DF-3AD6-41DC-8AC4-384DE7C346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dt" idx="63"/>
          </p:nvPr>
        </p:nvSpPr>
        <p:spPr>
          <a:xfrm>
            <a:off x="504000" y="5165280"/>
            <a:ext cx="2341800" cy="3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slideLayout" Target="../slideLayouts/slideLayout2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2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0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10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0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0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0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0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1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17.png"/><Relationship Id="rId5" Type="http://schemas.openxmlformats.org/officeDocument/2006/relationships/image" Target="../media/image40.png"/><Relationship Id="rId6" Type="http://schemas.openxmlformats.org/officeDocument/2006/relationships/image" Target="../media/image41.sv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0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0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10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47.jpeg"/><Relationship Id="rId4" Type="http://schemas.openxmlformats.org/officeDocument/2006/relationships/slideLayout" Target="../slideLayouts/slideLayout10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48.jpeg"/><Relationship Id="rId4" Type="http://schemas.openxmlformats.org/officeDocument/2006/relationships/slideLayout" Target="../slideLayouts/slideLayout10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51.png"/><Relationship Id="rId7" Type="http://schemas.openxmlformats.org/officeDocument/2006/relationships/image" Target="../media/image52.svg"/><Relationship Id="rId8" Type="http://schemas.openxmlformats.org/officeDocument/2006/relationships/image" Target="../media/image53.png"/><Relationship Id="rId9" Type="http://schemas.openxmlformats.org/officeDocument/2006/relationships/image" Target="../media/image54.svg"/><Relationship Id="rId10" Type="http://schemas.openxmlformats.org/officeDocument/2006/relationships/image" Target="../media/image55.jpe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slideLayout" Target="../slideLayouts/slideLayout10.xml"/><Relationship Id="rId16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6" Type="http://schemas.openxmlformats.org/officeDocument/2006/relationships/image" Target="../media/image17.png"/><Relationship Id="rId7" Type="http://schemas.openxmlformats.org/officeDocument/2006/relationships/image" Target="../media/image61.png"/><Relationship Id="rId8" Type="http://schemas.openxmlformats.org/officeDocument/2006/relationships/image" Target="../media/image62.svg"/><Relationship Id="rId9" Type="http://schemas.openxmlformats.org/officeDocument/2006/relationships/image" Target="../media/image63.png"/><Relationship Id="rId10" Type="http://schemas.openxmlformats.org/officeDocument/2006/relationships/image" Target="../media/image64.svg"/><Relationship Id="rId11" Type="http://schemas.openxmlformats.org/officeDocument/2006/relationships/image" Target="../media/image65.png"/><Relationship Id="rId12" Type="http://schemas.openxmlformats.org/officeDocument/2006/relationships/image" Target="../media/image66.sv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67.png"/><Relationship Id="rId16" Type="http://schemas.openxmlformats.org/officeDocument/2006/relationships/image" Target="../media/image68.svg"/><Relationship Id="rId17" Type="http://schemas.openxmlformats.org/officeDocument/2006/relationships/image" Target="../media/image40.png"/><Relationship Id="rId18" Type="http://schemas.openxmlformats.org/officeDocument/2006/relationships/image" Target="../media/image41.svg"/><Relationship Id="rId19" Type="http://schemas.openxmlformats.org/officeDocument/2006/relationships/image" Target="../media/image6.png"/><Relationship Id="rId20" Type="http://schemas.openxmlformats.org/officeDocument/2006/relationships/image" Target="../media/image1.png"/><Relationship Id="rId2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/>
          </p:nvPr>
        </p:nvSpPr>
        <p:spPr>
          <a:xfrm>
            <a:off x="914760" y="4669200"/>
            <a:ext cx="10509480" cy="1820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David Rach, Ph.D.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ts val="144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UMGCCC Flow Cytometry Shared Resource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ts val="144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Baltimore, MD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November 05, 2026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4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2"/>
          <p:cNvSpPr/>
          <p:nvPr/>
        </p:nvSpPr>
        <p:spPr>
          <a:xfrm>
            <a:off x="122760" y="6404400"/>
            <a:ext cx="21020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Slides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Graphic 5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65920" y="229320"/>
            <a:ext cx="3652560" cy="95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Picture 72" descr=""/>
          <p:cNvPicPr/>
          <p:nvPr/>
        </p:nvPicPr>
        <p:blipFill>
          <a:blip r:embed="rId4"/>
          <a:stretch/>
        </p:blipFill>
        <p:spPr>
          <a:xfrm>
            <a:off x="8375760" y="115920"/>
            <a:ext cx="3191040" cy="125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457200" y="3657600"/>
            <a:ext cx="1173240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“Deciphering the black box”: leveraging shared-resource laboratory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resources to tackle spectral flow cytometry’s quirks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5"/>
          <a:stretch/>
        </p:blipFill>
        <p:spPr>
          <a:xfrm>
            <a:off x="842400" y="5126760"/>
            <a:ext cx="1062000" cy="115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is amazing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1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Making analyses possible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1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Success due to us as a community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1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Still has its quirks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1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Co-expression in unmixing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Picture 1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controls autofluorescence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Picture 1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controls single colors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Picture 2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QC goes bad with bleach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2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Mix art, science and hoodoo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Picture 2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SRLs as force for good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Picture 2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Wide range of panels and cell types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2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Instruments over lifespan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Picture 2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Who spots the issues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3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 tired maaannn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Picture 3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 the detection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Picture 3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decipher some underlying unanswered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Picture 34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Manufacturer accessability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3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we do as far as QC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Picture 3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 little programming knowledge makes you dangerous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9" name="Picture 3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Things you may have not known about your Aurora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Picture 3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Sit Flushes in App Log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3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Usage Plots vs. hour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Picture 4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Commando Users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Picture 4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2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Usage Pattern Over Time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Picture 4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QC CSV folder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Picture 4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Temperature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Picture 4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QC Time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Picture 6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Parse for errors, sequences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Picture 6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FCS files undefined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Picture 8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QC doing what is says undefined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Picture 8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CSVs to dashboard undefined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8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Damaged QC beads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Picture 8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Expt files undefined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8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Users not knowing about threshold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Picture 8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Correct antibody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8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Stain index and prediction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Picture 8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Correlating variation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9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Is my unstained zombied?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Picture 9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Future works in progress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Picture 9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Regardless, what one person can do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Picture 64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But what if we had a community soapbox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Picture 6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Manufacturers can help or get out of the way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Picture 6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Rise together stronger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Picture 6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Open-source and shared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6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 not just for the analyst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Picture 6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 slides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Picture 7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My scripts are here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Picture 7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Call for Cytometry QC data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7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Acknowledgements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Picture 7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Questions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7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>
            <a:off x="686160" y="1052640"/>
            <a:ext cx="5250960" cy="145548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6440" cy="632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Picture 12" descr=""/>
          <p:cNvPicPr/>
          <p:nvPr/>
        </p:nvPicPr>
        <p:blipFill>
          <a:blip r:embed="rId1"/>
          <a:stretch/>
        </p:blipFill>
        <p:spPr>
          <a:xfrm>
            <a:off x="6095880" y="1037880"/>
            <a:ext cx="5494320" cy="444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Picture 1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544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"/>
          <p:cNvSpPr/>
          <p:nvPr/>
        </p:nvSpPr>
        <p:spPr>
          <a:xfrm>
            <a:off x="686160" y="2660400"/>
            <a:ext cx="5250960" cy="159372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9" name="Rectangle 7"/>
          <p:cNvSpPr/>
          <p:nvPr/>
        </p:nvSpPr>
        <p:spPr>
          <a:xfrm>
            <a:off x="748800" y="1052640"/>
            <a:ext cx="5188320" cy="20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Capable of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resolving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remarkably similar fluorophores →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increased number of markers per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conventional flow cytometry (CFC)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11"/>
          <p:cNvSpPr/>
          <p:nvPr/>
        </p:nvSpPr>
        <p:spPr>
          <a:xfrm>
            <a:off x="748800" y="2707200"/>
            <a:ext cx="518832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Allows for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rapid acquisition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 millions of events in a few minutes → typically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greater number of acquired cells per sample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mass cytometry (MC)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12"/>
          <p:cNvSpPr/>
          <p:nvPr/>
        </p:nvSpPr>
        <p:spPr>
          <a:xfrm>
            <a:off x="685800" y="4440600"/>
            <a:ext cx="51883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(SFC) datasets have an unique combination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width and depth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preceding technologies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85800" y="4397760"/>
            <a:ext cx="5251320" cy="108216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4040" cy="35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914400" y="1143000"/>
            <a:ext cx="5025240" cy="376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040" cy="6357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Picture 42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"/>
          <p:cNvSpPr/>
          <p:nvPr/>
        </p:nvSpPr>
        <p:spPr>
          <a:xfrm>
            <a:off x="6629400" y="1198800"/>
            <a:ext cx="5025600" cy="122760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8" name=""/>
          <p:cNvSpPr/>
          <p:nvPr/>
        </p:nvSpPr>
        <p:spPr>
          <a:xfrm>
            <a:off x="6629400" y="3837600"/>
            <a:ext cx="5022720" cy="83016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9" name=""/>
          <p:cNvSpPr/>
          <p:nvPr/>
        </p:nvSpPr>
        <p:spPr>
          <a:xfrm>
            <a:off x="6629400" y="3895200"/>
            <a:ext cx="52513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Expand our knowledge about immune system heterogeneity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6626520" y="2498400"/>
            <a:ext cx="5025600" cy="122760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1" name=""/>
          <p:cNvSpPr/>
          <p:nvPr/>
        </p:nvSpPr>
        <p:spPr>
          <a:xfrm>
            <a:off x="6629400" y="1234800"/>
            <a:ext cx="502272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Able to efficiently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 greater number of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carry out a more thorough profiling of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rare cell subsets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evaluate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cell types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invaluable for clinical studies with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limited biospecimen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2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4040" cy="35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" descr=""/>
          <p:cNvPicPr/>
          <p:nvPr/>
        </p:nvPicPr>
        <p:blipFill>
          <a:blip r:embed="rId1"/>
          <a:stretch/>
        </p:blipFill>
        <p:spPr>
          <a:xfrm>
            <a:off x="5768640" y="1863000"/>
            <a:ext cx="6113520" cy="296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"/>
          <p:cNvSpPr/>
          <p:nvPr/>
        </p:nvSpPr>
        <p:spPr>
          <a:xfrm>
            <a:off x="230040" y="1229040"/>
            <a:ext cx="5479920" cy="1365120"/>
          </a:xfrm>
          <a:prstGeom prst="rect">
            <a:avLst/>
          </a:prstGeom>
          <a:solidFill>
            <a:srgbClr val="f7d1d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45" name="Picture 170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652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"/>
          <p:cNvSpPr/>
          <p:nvPr/>
        </p:nvSpPr>
        <p:spPr>
          <a:xfrm>
            <a:off x="101880" y="89280"/>
            <a:ext cx="1200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algorithmic tools struggle with unmixing errors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78"/>
          <p:cNvSpPr/>
          <p:nvPr/>
        </p:nvSpPr>
        <p:spPr>
          <a:xfrm>
            <a:off x="228600" y="1192680"/>
            <a:ext cx="54849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software packages heavily rely on having a consistent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median fluorescent intensity (MFI)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to cluster cells based on positive or negative marker expression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228600" y="4343400"/>
            <a:ext cx="5479920" cy="1365120"/>
          </a:xfrm>
          <a:prstGeom prst="rect">
            <a:avLst/>
          </a:prstGeom>
          <a:solidFill>
            <a:srgbClr val="77bc6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errors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can seriously shift the MFI ranges for “negative” and “positive” cells for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individual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acquired specimens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228600" y="2780640"/>
            <a:ext cx="5479920" cy="1365120"/>
          </a:xfrm>
          <a:prstGeom prst="rect">
            <a:avLst/>
          </a:prstGeom>
          <a:solidFill>
            <a:srgbClr val="ff80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batch correction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/ normalization / scaling tools target instrumental or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experimental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level variation for correction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120" cy="35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Picture 104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652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"/>
          <p:cNvSpPr/>
          <p:nvPr/>
        </p:nvSpPr>
        <p:spPr>
          <a:xfrm>
            <a:off x="101880" y="89280"/>
            <a:ext cx="1200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“We discovered a novel dendritic cell cluster”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5120" cy="35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" descr=""/>
          <p:cNvPicPr/>
          <p:nvPr/>
        </p:nvPicPr>
        <p:blipFill>
          <a:blip r:embed="rId3"/>
          <a:stretch/>
        </p:blipFill>
        <p:spPr>
          <a:xfrm>
            <a:off x="2769120" y="1062000"/>
            <a:ext cx="6688800" cy="46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375000" y="4572360"/>
            <a:ext cx="1137960" cy="113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>
            <a:off x="4343400" y="3429000"/>
            <a:ext cx="3424320" cy="681120"/>
          </a:xfrm>
          <a:prstGeom prst="rect">
            <a:avLst/>
          </a:prstGeom>
          <a:solidFill>
            <a:srgbClr val="ffbf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7" name="Picture 79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652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"/>
          <p:cNvSpPr/>
          <p:nvPr/>
        </p:nvSpPr>
        <p:spPr>
          <a:xfrm>
            <a:off x="0" y="41040"/>
            <a:ext cx="12110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Building open-source tool-sets to address SFC’s quirks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5120" cy="35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 descr=""/>
          <p:cNvPicPr/>
          <p:nvPr/>
        </p:nvPicPr>
        <p:blipFill>
          <a:blip r:embed="rId3"/>
          <a:stretch/>
        </p:blipFill>
        <p:spPr>
          <a:xfrm>
            <a:off x="1371600" y="1371240"/>
            <a:ext cx="2104560" cy="182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" descr=""/>
          <p:cNvPicPr/>
          <p:nvPr/>
        </p:nvPicPr>
        <p:blipFill>
          <a:blip r:embed="rId4"/>
          <a:stretch/>
        </p:blipFill>
        <p:spPr>
          <a:xfrm>
            <a:off x="5029200" y="1271880"/>
            <a:ext cx="2274480" cy="196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"/>
          <p:cNvSpPr/>
          <p:nvPr/>
        </p:nvSpPr>
        <p:spPr>
          <a:xfrm>
            <a:off x="687600" y="3476520"/>
            <a:ext cx="3422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Spectral Signature Characterization and Isolation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8208000" y="3428640"/>
            <a:ext cx="3422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Automated Instrument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Quality-Control Dashboards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4343400" y="3475800"/>
            <a:ext cx="3422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Incorporation of manually-annotated gating information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5"/>
          <a:stretch/>
        </p:blipFill>
        <p:spPr>
          <a:xfrm>
            <a:off x="9027720" y="1143000"/>
            <a:ext cx="1917360" cy="22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"/>
          <p:cNvSpPr/>
          <p:nvPr/>
        </p:nvSpPr>
        <p:spPr>
          <a:xfrm>
            <a:off x="8206200" y="3428640"/>
            <a:ext cx="3424320" cy="68112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7" name=""/>
          <p:cNvSpPr/>
          <p:nvPr/>
        </p:nvSpPr>
        <p:spPr>
          <a:xfrm>
            <a:off x="685800" y="3429000"/>
            <a:ext cx="3424320" cy="681120"/>
          </a:xfrm>
          <a:prstGeom prst="rect">
            <a:avLst/>
          </a:prstGeom>
          <a:solidFill>
            <a:srgbClr val="a1467e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8" name="" descr=""/>
          <p:cNvPicPr/>
          <p:nvPr/>
        </p:nvPicPr>
        <p:blipFill>
          <a:blip r:embed="rId6"/>
          <a:stretch/>
        </p:blipFill>
        <p:spPr>
          <a:xfrm>
            <a:off x="6172200" y="4710600"/>
            <a:ext cx="2185560" cy="14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"/>
          <p:cNvSpPr/>
          <p:nvPr/>
        </p:nvSpPr>
        <p:spPr>
          <a:xfrm>
            <a:off x="6172200" y="5943600"/>
            <a:ext cx="2509920" cy="681120"/>
          </a:xfrm>
          <a:prstGeom prst="rect">
            <a:avLst/>
          </a:prstGeom>
          <a:solidFill>
            <a:srgbClr val="ff7b59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0" name="Picture 1" descr=""/>
          <p:cNvPicPr/>
          <p:nvPr/>
        </p:nvPicPr>
        <p:blipFill>
          <a:blip r:embed="rId7"/>
          <a:stretch/>
        </p:blipFill>
        <p:spPr>
          <a:xfrm>
            <a:off x="3429000" y="4898160"/>
            <a:ext cx="2281320" cy="172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"/>
          <p:cNvSpPr/>
          <p:nvPr/>
        </p:nvSpPr>
        <p:spPr>
          <a:xfrm>
            <a:off x="6930000" y="6100200"/>
            <a:ext cx="958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Rust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>
            <a:off x="5787000" y="3558600"/>
            <a:ext cx="4725360" cy="782280"/>
          </a:xfrm>
          <a:prstGeom prst="rect">
            <a:avLst/>
          </a:prstGeom>
          <a:solidFill>
            <a:srgbClr val="ffbf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09840" cy="693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Daily Processing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Picture 5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5960" cy="52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Picture 6" descr=""/>
          <p:cNvPicPr/>
          <p:nvPr/>
        </p:nvPicPr>
        <p:blipFill>
          <a:blip r:embed="rId2"/>
          <a:stretch/>
        </p:blipFill>
        <p:spPr>
          <a:xfrm>
            <a:off x="1010520" y="952920"/>
            <a:ext cx="4525200" cy="475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Rectangle 5"/>
          <p:cNvSpPr/>
          <p:nvPr/>
        </p:nvSpPr>
        <p:spPr>
          <a:xfrm>
            <a:off x="5730480" y="2142360"/>
            <a:ext cx="54676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Behind-the-scenes: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Using R (and increasingly Rust) to process the .fcs files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6"/>
          <p:cNvSpPr/>
          <p:nvPr/>
        </p:nvSpPr>
        <p:spPr>
          <a:xfrm>
            <a:off x="5751000" y="4163760"/>
            <a:ext cx="49899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Quarto Website gets updated twice daily via a GitHub action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8"/>
          <p:cNvSpPr/>
          <p:nvPr/>
        </p:nvSpPr>
        <p:spPr>
          <a:xfrm>
            <a:off x="5751000" y="3177360"/>
            <a:ext cx="54676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transfer to GitHub via Windows Task Scheduler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5787000" y="4601880"/>
            <a:ext cx="4725360" cy="782280"/>
          </a:xfrm>
          <a:prstGeom prst="rect">
            <a:avLst/>
          </a:prstGeom>
          <a:solidFill>
            <a:srgbClr val="e0c2cd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5751000" y="2572200"/>
            <a:ext cx="4761360" cy="782280"/>
          </a:xfrm>
          <a:prstGeom prst="rect">
            <a:avLst/>
          </a:prstGeom>
          <a:solidFill>
            <a:srgbClr val="dee6e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Picture 7" descr=""/>
          <p:cNvPicPr/>
          <p:nvPr/>
        </p:nvPicPr>
        <p:blipFill>
          <a:blip r:embed="rId3"/>
          <a:stretch/>
        </p:blipFill>
        <p:spPr>
          <a:xfrm>
            <a:off x="9108000" y="812520"/>
            <a:ext cx="1365480" cy="157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09840" cy="693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Picture 2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5960" cy="52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Picture 3" descr=""/>
          <p:cNvPicPr/>
          <p:nvPr/>
        </p:nvPicPr>
        <p:blipFill>
          <a:blip r:embed="rId2"/>
          <a:stretch/>
        </p:blipFill>
        <p:spPr>
          <a:xfrm>
            <a:off x="2069640" y="1093320"/>
            <a:ext cx="9746280" cy="443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15640" y="1154520"/>
            <a:ext cx="1644120" cy="168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-148680" y="2971800"/>
            <a:ext cx="1950840" cy="499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-148680" y="5227200"/>
            <a:ext cx="1950840" cy="499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How-To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Picture 8" descr=""/>
          <p:cNvPicPr/>
          <p:nvPr/>
        </p:nvPicPr>
        <p:blipFill>
          <a:blip r:embed="rId5"/>
          <a:srcRect l="3481" t="5989" r="0" b="0"/>
          <a:stretch/>
        </p:blipFill>
        <p:spPr>
          <a:xfrm>
            <a:off x="274320" y="3545280"/>
            <a:ext cx="1661760" cy="159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09840" cy="693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Picture 9" descr=""/>
          <p:cNvPicPr/>
          <p:nvPr/>
        </p:nvPicPr>
        <p:blipFill>
          <a:blip r:embed="rId1"/>
          <a:stretch/>
        </p:blipFill>
        <p:spPr>
          <a:xfrm>
            <a:off x="10058760" y="6153840"/>
            <a:ext cx="1515960" cy="52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1" name="Picture 10" descr=""/>
          <p:cNvPicPr/>
          <p:nvPr/>
        </p:nvPicPr>
        <p:blipFill>
          <a:blip r:embed="rId2"/>
          <a:stretch/>
        </p:blipFill>
        <p:spPr>
          <a:xfrm>
            <a:off x="582120" y="726480"/>
            <a:ext cx="11024280" cy="517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19" descr="A screenshot of a video game&#10;&#10;AI-generated content may be incorrect."/>
          <p:cNvPicPr/>
          <p:nvPr/>
        </p:nvPicPr>
        <p:blipFill>
          <a:blip r:embed="rId1"/>
          <a:srcRect l="0" t="0" r="0" b="13847"/>
          <a:stretch/>
        </p:blipFill>
        <p:spPr>
          <a:xfrm>
            <a:off x="2304360" y="1143000"/>
            <a:ext cx="7749360" cy="45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" descr=""/>
          <p:cNvPicPr/>
          <p:nvPr/>
        </p:nvPicPr>
        <p:blipFill>
          <a:blip r:embed="rId2"/>
          <a:stretch/>
        </p:blipFill>
        <p:spPr>
          <a:xfrm>
            <a:off x="458640" y="6172200"/>
            <a:ext cx="13654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"/>
          <p:cNvSpPr/>
          <p:nvPr/>
        </p:nvSpPr>
        <p:spPr>
          <a:xfrm>
            <a:off x="1143000" y="4141440"/>
            <a:ext cx="118224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1143000" y="1525320"/>
            <a:ext cx="1182240" cy="5166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APC-Vio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2034720" y="4631400"/>
            <a:ext cx="594360" cy="36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7" name=""/>
          <p:cNvSpPr/>
          <p:nvPr/>
        </p:nvSpPr>
        <p:spPr>
          <a:xfrm>
            <a:off x="2034720" y="2014920"/>
            <a:ext cx="594360" cy="72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98" name="Picture 22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PlaceHolder 4"/>
          <p:cNvSpPr/>
          <p:nvPr/>
        </p:nvSpPr>
        <p:spPr>
          <a:xfrm>
            <a:off x="231840" y="47880"/>
            <a:ext cx="12107880" cy="6336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Unmixing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24" descr="A screenshot of a video game&#10;&#10;AI-generated content may be incorrect."/>
          <p:cNvPicPr/>
          <p:nvPr/>
        </p:nvPicPr>
        <p:blipFill>
          <a:blip r:embed="rId1"/>
          <a:srcRect l="0" t="0" r="0" b="12458"/>
          <a:stretch/>
        </p:blipFill>
        <p:spPr>
          <a:xfrm>
            <a:off x="2996640" y="1143000"/>
            <a:ext cx="7285680" cy="479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" descr=""/>
          <p:cNvPicPr/>
          <p:nvPr/>
        </p:nvPicPr>
        <p:blipFill>
          <a:blip r:embed="rId2"/>
          <a:stretch/>
        </p:blipFill>
        <p:spPr>
          <a:xfrm>
            <a:off x="458640" y="6172200"/>
            <a:ext cx="13654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"/>
          <p:cNvSpPr/>
          <p:nvPr/>
        </p:nvSpPr>
        <p:spPr>
          <a:xfrm>
            <a:off x="1600200" y="4239000"/>
            <a:ext cx="111060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1600200" y="1537560"/>
            <a:ext cx="1110600" cy="5166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APC-Vio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2437920" y="4744800"/>
            <a:ext cx="558720" cy="72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5" name=""/>
          <p:cNvSpPr/>
          <p:nvPr/>
        </p:nvSpPr>
        <p:spPr>
          <a:xfrm>
            <a:off x="2437920" y="2043360"/>
            <a:ext cx="558720" cy="72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06" name="Picture 25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PlaceHolder 5"/>
          <p:cNvSpPr/>
          <p:nvPr/>
        </p:nvSpPr>
        <p:spPr>
          <a:xfrm>
            <a:off x="0" y="228600"/>
            <a:ext cx="12107880" cy="6336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Mismatched references lead to errors in attribution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/>
          <p:nvPr/>
        </p:nvSpPr>
        <p:spPr>
          <a:xfrm>
            <a:off x="7317000" y="1144800"/>
            <a:ext cx="4565520" cy="1365120"/>
          </a:xfrm>
          <a:prstGeom prst="rect">
            <a:avLst/>
          </a:prstGeom>
          <a:solidFill>
            <a:srgbClr val="f7d1d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09" name="Picture 77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652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"/>
          <p:cNvSpPr/>
          <p:nvPr/>
        </p:nvSpPr>
        <p:spPr>
          <a:xfrm>
            <a:off x="101880" y="89280"/>
            <a:ext cx="1200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How to identify problematic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5120" cy="3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"/>
          <p:cNvSpPr/>
          <p:nvPr/>
        </p:nvSpPr>
        <p:spPr>
          <a:xfrm>
            <a:off x="7399800" y="1143000"/>
            <a:ext cx="45673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Despite the critical importance unmixing controls play, few tools permit us to determine quality of the individual control before unmixing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7315200" y="2514600"/>
            <a:ext cx="45673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quality control algorithms (PeacoQC, FlowAI, etc.) primarily focus on detecting laser and fluidic issues in already acquired .fcs files.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7387200" y="3922200"/>
            <a:ext cx="45673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errors can be introduced by tandem degradational, additional autofluorescences, undiagnosed instrumental issues, etc.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7315200" y="2552400"/>
            <a:ext cx="4565520" cy="1365120"/>
          </a:xfrm>
          <a:prstGeom prst="rect">
            <a:avLst/>
          </a:prstGeom>
          <a:solidFill>
            <a:srgbClr val="3faf4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6" name=""/>
          <p:cNvSpPr/>
          <p:nvPr/>
        </p:nvSpPr>
        <p:spPr>
          <a:xfrm>
            <a:off x="7281000" y="3994200"/>
            <a:ext cx="4565520" cy="1365120"/>
          </a:xfrm>
          <a:prstGeom prst="rect">
            <a:avLst/>
          </a:prstGeom>
          <a:solidFill>
            <a:srgbClr val="ffbf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17" name="" descr=""/>
          <p:cNvPicPr/>
          <p:nvPr/>
        </p:nvPicPr>
        <p:blipFill>
          <a:blip r:embed="rId3"/>
          <a:stretch/>
        </p:blipFill>
        <p:spPr>
          <a:xfrm>
            <a:off x="228600" y="1600200"/>
            <a:ext cx="6586560" cy="319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Picture 83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3931200" y="469800"/>
            <a:ext cx="6122520" cy="593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0" name="Picture 28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1371600" y="952200"/>
            <a:ext cx="2390760" cy="248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Box 7"/>
          <p:cNvSpPr/>
          <p:nvPr/>
        </p:nvSpPr>
        <p:spPr>
          <a:xfrm>
            <a:off x="1491480" y="5803560"/>
            <a:ext cx="1974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2" name="Graphic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80000" y="4222440"/>
            <a:ext cx="1522440" cy="150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3" name="Picture 31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" descr=""/>
          <p:cNvPicPr/>
          <p:nvPr/>
        </p:nvPicPr>
        <p:blipFill>
          <a:blip r:embed="rId6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"/>
          <p:cNvSpPr/>
          <p:nvPr/>
        </p:nvSpPr>
        <p:spPr>
          <a:xfrm>
            <a:off x="6028200" y="914400"/>
            <a:ext cx="4111560" cy="5483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Picture 90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3931200" y="469800"/>
            <a:ext cx="6122520" cy="593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8" name="Picture 44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1371600" y="952200"/>
            <a:ext cx="2390760" cy="248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Box 11"/>
          <p:cNvSpPr/>
          <p:nvPr/>
        </p:nvSpPr>
        <p:spPr>
          <a:xfrm>
            <a:off x="1491480" y="5803560"/>
            <a:ext cx="1974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0" name="Graphic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80000" y="4222440"/>
            <a:ext cx="1522440" cy="150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Picture 74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" descr=""/>
          <p:cNvPicPr/>
          <p:nvPr/>
        </p:nvPicPr>
        <p:blipFill>
          <a:blip r:embed="rId6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"/>
          <p:cNvSpPr/>
          <p:nvPr/>
        </p:nvSpPr>
        <p:spPr>
          <a:xfrm>
            <a:off x="7979400" y="1143000"/>
            <a:ext cx="2074320" cy="5254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Picture 99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3931200" y="469800"/>
            <a:ext cx="6122520" cy="593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07880" cy="633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6" name="Picture 75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1371600" y="952200"/>
            <a:ext cx="2390760" cy="248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TextBox 12"/>
          <p:cNvSpPr/>
          <p:nvPr/>
        </p:nvSpPr>
        <p:spPr>
          <a:xfrm>
            <a:off x="1491480" y="5803560"/>
            <a:ext cx="1974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8" name="Graphic 10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80000" y="4222440"/>
            <a:ext cx="1522440" cy="150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Picture 84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" descr=""/>
          <p:cNvPicPr/>
          <p:nvPr/>
        </p:nvPicPr>
        <p:blipFill>
          <a:blip r:embed="rId6"/>
          <a:stretch/>
        </p:blipFill>
        <p:spPr>
          <a:xfrm>
            <a:off x="457560" y="617256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0" y="-61920"/>
            <a:ext cx="12110040" cy="6357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tools for screening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2" name="Picture 6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4040" cy="35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"/>
          <p:cNvSpPr/>
          <p:nvPr/>
        </p:nvSpPr>
        <p:spPr>
          <a:xfrm>
            <a:off x="6487920" y="2309040"/>
            <a:ext cx="4541040" cy="201384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45" name="" descr=""/>
          <p:cNvPicPr/>
          <p:nvPr/>
        </p:nvPicPr>
        <p:blipFill>
          <a:blip r:embed="rId3"/>
          <a:srcRect l="0" t="0" r="15005" b="0"/>
          <a:stretch/>
        </p:blipFill>
        <p:spPr>
          <a:xfrm>
            <a:off x="7459200" y="2365560"/>
            <a:ext cx="2772000" cy="154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"/>
          <p:cNvSpPr/>
          <p:nvPr/>
        </p:nvSpPr>
        <p:spPr>
          <a:xfrm>
            <a:off x="6993360" y="3948840"/>
            <a:ext cx="353052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Autofluorescence Isolation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928440" y="3677040"/>
            <a:ext cx="5046480" cy="201384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48" name="" descr=""/>
          <p:cNvPicPr/>
          <p:nvPr/>
        </p:nvPicPr>
        <p:blipFill>
          <a:blip r:embed="rId4"/>
          <a:srcRect l="36749" t="50780" r="-263" b="0"/>
          <a:stretch/>
        </p:blipFill>
        <p:spPr>
          <a:xfrm>
            <a:off x="1061640" y="3804120"/>
            <a:ext cx="4793760" cy="146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"/>
          <p:cNvSpPr/>
          <p:nvPr/>
        </p:nvSpPr>
        <p:spPr>
          <a:xfrm>
            <a:off x="1686600" y="5356800"/>
            <a:ext cx="353016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Autofluorescence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914400" y="1143000"/>
            <a:ext cx="5060520" cy="227340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451" name=""/>
          <p:cNvGrpSpPr/>
          <p:nvPr/>
        </p:nvGrpSpPr>
        <p:grpSpPr>
          <a:xfrm>
            <a:off x="1686600" y="1233360"/>
            <a:ext cx="3942360" cy="1779840"/>
            <a:chOff x="1686600" y="1233360"/>
            <a:chExt cx="3942360" cy="1779840"/>
          </a:xfrm>
        </p:grpSpPr>
        <p:sp>
          <p:nvSpPr>
            <p:cNvPr id="452" name="Arrow: Right 2"/>
            <p:cNvSpPr/>
            <p:nvPr/>
          </p:nvSpPr>
          <p:spPr>
            <a:xfrm rot="10800000">
              <a:off x="4872960" y="1359000"/>
              <a:ext cx="414000" cy="2174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  <p:sp>
          <p:nvSpPr>
            <p:cNvPr id="453" name="TextBox 4"/>
            <p:cNvSpPr/>
            <p:nvPr/>
          </p:nvSpPr>
          <p:spPr>
            <a:xfrm>
              <a:off x="4759200" y="1613520"/>
              <a:ext cx="86976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APC-Fire 810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54" name="Picture 4" descr="A graph of a number of data&#10;&#10;AI-generated content may be incorrect."/>
            <p:cNvPicPr/>
            <p:nvPr/>
          </p:nvPicPr>
          <p:blipFill>
            <a:blip r:embed="rId5"/>
            <a:stretch/>
          </p:blipFill>
          <p:spPr>
            <a:xfrm>
              <a:off x="1686600" y="1233360"/>
              <a:ext cx="3170880" cy="1779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5" name="TextBox 3"/>
            <p:cNvSpPr/>
            <p:nvPr/>
          </p:nvSpPr>
          <p:spPr>
            <a:xfrm>
              <a:off x="3405960" y="1486440"/>
              <a:ext cx="623880" cy="31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Arrow: Right 1"/>
            <p:cNvSpPr/>
            <p:nvPr/>
          </p:nvSpPr>
          <p:spPr>
            <a:xfrm>
              <a:off x="4076640" y="1538280"/>
              <a:ext cx="216000" cy="2170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57" name=""/>
          <p:cNvSpPr/>
          <p:nvPr/>
        </p:nvSpPr>
        <p:spPr>
          <a:xfrm>
            <a:off x="1939320" y="3028680"/>
            <a:ext cx="277164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Tandem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>
            <a:off x="516600" y="3854880"/>
            <a:ext cx="6167880" cy="71460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9" name=""/>
          <p:cNvSpPr/>
          <p:nvPr/>
        </p:nvSpPr>
        <p:spPr>
          <a:xfrm>
            <a:off x="509400" y="2660400"/>
            <a:ext cx="6175080" cy="1019880"/>
          </a:xfrm>
          <a:prstGeom prst="rect">
            <a:avLst/>
          </a:prstGeom>
          <a:solidFill>
            <a:srgbClr val="ff6d6d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1"/>
          <a:stretch/>
        </p:blipFill>
        <p:spPr>
          <a:xfrm>
            <a:off x="7110000" y="1483920"/>
            <a:ext cx="4643640" cy="29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"/>
          <p:cNvSpPr/>
          <p:nvPr/>
        </p:nvSpPr>
        <p:spPr>
          <a:xfrm>
            <a:off x="277200" y="961920"/>
            <a:ext cx="5587200" cy="63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2" name=""/>
          <p:cNvSpPr/>
          <p:nvPr/>
        </p:nvSpPr>
        <p:spPr>
          <a:xfrm>
            <a:off x="468000" y="2588400"/>
            <a:ext cx="64324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the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 degrades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noticeable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 in variant signatures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making up substantial proportion of all cells in the unmixing control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480600" y="3813840"/>
            <a:ext cx="63964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screening all acquired unmixing controls from campus users during off-hours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47520"/>
            <a:ext cx="12340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degrading fluorophores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Picture 94" descr=""/>
          <p:cNvPicPr/>
          <p:nvPr/>
        </p:nvPicPr>
        <p:blipFill>
          <a:blip r:embed="rId2"/>
          <a:stretch/>
        </p:blipFill>
        <p:spPr>
          <a:xfrm>
            <a:off x="10436040" y="6172560"/>
            <a:ext cx="1135800" cy="39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6" name="" descr=""/>
          <p:cNvPicPr/>
          <p:nvPr/>
        </p:nvPicPr>
        <p:blipFill>
          <a:blip r:embed="rId3"/>
          <a:stretch/>
        </p:blipFill>
        <p:spPr>
          <a:xfrm>
            <a:off x="457920" y="6172920"/>
            <a:ext cx="1364400" cy="35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"/>
          <p:cNvSpPr/>
          <p:nvPr/>
        </p:nvSpPr>
        <p:spPr>
          <a:xfrm>
            <a:off x="516600" y="1444320"/>
            <a:ext cx="6167160" cy="1056600"/>
          </a:xfrm>
          <a:prstGeom prst="rect">
            <a:avLst/>
          </a:prstGeom>
          <a:solidFill>
            <a:srgbClr val="00a933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8" name=""/>
          <p:cNvSpPr/>
          <p:nvPr/>
        </p:nvSpPr>
        <p:spPr>
          <a:xfrm>
            <a:off x="473400" y="1408320"/>
            <a:ext cx="61750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Fluorophores in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good shape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predominant normalized signature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within the unmixing control raw .fcs file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5257800" y="2861640"/>
            <a:ext cx="5938560" cy="984960"/>
          </a:xfrm>
          <a:prstGeom prst="rect">
            <a:avLst/>
          </a:prstGeom>
          <a:solidFill>
            <a:srgbClr val="ff3838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0" name=""/>
          <p:cNvSpPr/>
          <p:nvPr/>
        </p:nvSpPr>
        <p:spPr>
          <a:xfrm>
            <a:off x="5255280" y="4057920"/>
            <a:ext cx="5951160" cy="108864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1" name=""/>
          <p:cNvSpPr/>
          <p:nvPr/>
        </p:nvSpPr>
        <p:spPr>
          <a:xfrm>
            <a:off x="5258520" y="1494720"/>
            <a:ext cx="5938560" cy="113616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2" name="" descr=""/>
          <p:cNvPicPr/>
          <p:nvPr/>
        </p:nvPicPr>
        <p:blipFill>
          <a:blip r:embed="rId1"/>
          <a:stretch/>
        </p:blipFill>
        <p:spPr>
          <a:xfrm>
            <a:off x="2476440" y="3654720"/>
            <a:ext cx="2252160" cy="201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" descr=""/>
          <p:cNvPicPr/>
          <p:nvPr/>
        </p:nvPicPr>
        <p:blipFill>
          <a:blip r:embed="rId2"/>
          <a:stretch/>
        </p:blipFill>
        <p:spPr>
          <a:xfrm>
            <a:off x="318600" y="3675240"/>
            <a:ext cx="2047680" cy="19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"/>
          <p:cNvSpPr/>
          <p:nvPr/>
        </p:nvSpPr>
        <p:spPr>
          <a:xfrm>
            <a:off x="5259240" y="1539000"/>
            <a:ext cx="6166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approach also works to isolate variant autofluorescence signatures from unstained controls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5221800" y="3987360"/>
            <a:ext cx="59486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Return directly as an .fcs file containing just cells with same signature for use as an autofluorescent tag in SpectroFlo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5257800" y="2791080"/>
            <a:ext cx="59385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Unlike other approaches, the isolated cells share normalized signatures, only differing in terms of brightness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46800"/>
            <a:ext cx="12187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Isolating additional autofluorescence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8" name="Picture 95" descr=""/>
          <p:cNvPicPr/>
          <p:nvPr/>
        </p:nvPicPr>
        <p:blipFill>
          <a:blip r:embed="rId3"/>
          <a:stretch/>
        </p:blipFill>
        <p:spPr>
          <a:xfrm>
            <a:off x="10436040" y="6172560"/>
            <a:ext cx="1135800" cy="39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" descr=""/>
          <p:cNvPicPr/>
          <p:nvPr/>
        </p:nvPicPr>
        <p:blipFill>
          <a:blip r:embed="rId4"/>
          <a:stretch/>
        </p:blipFill>
        <p:spPr>
          <a:xfrm>
            <a:off x="457920" y="6172920"/>
            <a:ext cx="1364400" cy="35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" descr=""/>
          <p:cNvPicPr/>
          <p:nvPr/>
        </p:nvPicPr>
        <p:blipFill>
          <a:blip r:embed="rId5"/>
          <a:stretch/>
        </p:blipFill>
        <p:spPr>
          <a:xfrm>
            <a:off x="409320" y="914400"/>
            <a:ext cx="4248360" cy="262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"/>
          <p:cNvSpPr/>
          <p:nvPr/>
        </p:nvSpPr>
        <p:spPr>
          <a:xfrm>
            <a:off x="217800" y="2178000"/>
            <a:ext cx="4350960" cy="1726920"/>
          </a:xfrm>
          <a:prstGeom prst="rect">
            <a:avLst/>
          </a:prstGeom>
          <a:solidFill>
            <a:srgbClr val="afd09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2" name=""/>
          <p:cNvSpPr/>
          <p:nvPr/>
        </p:nvSpPr>
        <p:spPr>
          <a:xfrm>
            <a:off x="251280" y="4057920"/>
            <a:ext cx="4317480" cy="165384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3" name=""/>
          <p:cNvSpPr/>
          <p:nvPr/>
        </p:nvSpPr>
        <p:spPr>
          <a:xfrm>
            <a:off x="228600" y="1494720"/>
            <a:ext cx="4314240" cy="55944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4" name=""/>
          <p:cNvSpPr/>
          <p:nvPr/>
        </p:nvSpPr>
        <p:spPr>
          <a:xfrm>
            <a:off x="255240" y="1539000"/>
            <a:ext cx="4313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“As bright or brighter”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217800" y="3987360"/>
            <a:ext cx="435096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and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switching these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dim cell single-color controls to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bead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significantly improved unmixing for our panels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181800" y="2142000"/>
            <a:ext cx="438696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Dim antigen-fluorophore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combinations acquired as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often have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contribution to their signature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46800"/>
            <a:ext cx="12187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 in dim cell single-color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8" name="" descr=""/>
          <p:cNvPicPr/>
          <p:nvPr/>
        </p:nvPicPr>
        <p:blipFill>
          <a:blip r:embed="rId1"/>
          <a:stretch/>
        </p:blipFill>
        <p:spPr>
          <a:xfrm>
            <a:off x="457920" y="6172920"/>
            <a:ext cx="1364400" cy="352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89" name=""/>
          <p:cNvGrpSpPr/>
          <p:nvPr/>
        </p:nvGrpSpPr>
        <p:grpSpPr>
          <a:xfrm>
            <a:off x="4800600" y="1092600"/>
            <a:ext cx="6626160" cy="2104560"/>
            <a:chOff x="4800600" y="1092600"/>
            <a:chExt cx="6626160" cy="2104560"/>
          </a:xfrm>
        </p:grpSpPr>
        <p:pic>
          <p:nvPicPr>
            <p:cNvPr id="490" name="" descr=""/>
            <p:cNvPicPr/>
            <p:nvPr/>
          </p:nvPicPr>
          <p:blipFill>
            <a:blip r:embed="rId2"/>
            <a:srcRect l="0" t="47914" r="29412" b="0"/>
            <a:stretch/>
          </p:blipFill>
          <p:spPr>
            <a:xfrm>
              <a:off x="4800600" y="1100160"/>
              <a:ext cx="6626160" cy="209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1" name=""/>
            <p:cNvSpPr/>
            <p:nvPr/>
          </p:nvSpPr>
          <p:spPr>
            <a:xfrm>
              <a:off x="5064120" y="1103040"/>
              <a:ext cx="3308400" cy="19044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8028000" y="1092600"/>
              <a:ext cx="3308400" cy="19008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493" name="Picture 96" descr="A group of images of a square&#10;&#10;AI-generated content may be incorrect."/>
          <p:cNvPicPr/>
          <p:nvPr/>
        </p:nvPicPr>
        <p:blipFill>
          <a:blip r:embed="rId3"/>
          <a:srcRect l="0" t="66973" r="0" b="0"/>
          <a:stretch/>
        </p:blipFill>
        <p:spPr>
          <a:xfrm>
            <a:off x="5029200" y="3373200"/>
            <a:ext cx="6060960" cy="256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Box 10"/>
          <p:cNvSpPr/>
          <p:nvPr/>
        </p:nvSpPr>
        <p:spPr>
          <a:xfrm>
            <a:off x="5221800" y="5943600"/>
            <a:ext cx="3197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13"/>
          <p:cNvSpPr/>
          <p:nvPr/>
        </p:nvSpPr>
        <p:spPr>
          <a:xfrm>
            <a:off x="8001000" y="5991120"/>
            <a:ext cx="3197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without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 rot="7421400">
            <a:off x="9691200" y="1180440"/>
            <a:ext cx="453960" cy="45396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6d6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1320" cy="1314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good is any tool if the community is not able to use it?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8" name="Picture 5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4000" cy="39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9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4040" cy="352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0" name=""/>
          <p:cNvGrpSpPr/>
          <p:nvPr/>
        </p:nvGrpSpPr>
        <p:grpSpPr>
          <a:xfrm>
            <a:off x="5486400" y="1150920"/>
            <a:ext cx="6252480" cy="4335480"/>
            <a:chOff x="5486400" y="1150920"/>
            <a:chExt cx="6252480" cy="4335480"/>
          </a:xfrm>
        </p:grpSpPr>
        <p:pic>
          <p:nvPicPr>
            <p:cNvPr id="501" name="" descr=""/>
            <p:cNvPicPr/>
            <p:nvPr/>
          </p:nvPicPr>
          <p:blipFill>
            <a:blip r:embed="rId3"/>
            <a:stretch/>
          </p:blipFill>
          <p:spPr>
            <a:xfrm>
              <a:off x="5486400" y="1150920"/>
              <a:ext cx="6252480" cy="4335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02" name="" descr=""/>
            <p:cNvPicPr/>
            <p:nvPr/>
          </p:nvPicPr>
          <p:blipFill>
            <a:blip r:embed="rId4"/>
            <a:stretch/>
          </p:blipFill>
          <p:spPr>
            <a:xfrm>
              <a:off x="8780760" y="1379520"/>
              <a:ext cx="2338560" cy="25671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03" name=""/>
          <p:cNvSpPr/>
          <p:nvPr/>
        </p:nvSpPr>
        <p:spPr>
          <a:xfrm>
            <a:off x="444600" y="1150920"/>
            <a:ext cx="4564080" cy="4560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4" name="Rectangle 9"/>
          <p:cNvSpPr/>
          <p:nvPr/>
        </p:nvSpPr>
        <p:spPr>
          <a:xfrm>
            <a:off x="415440" y="1186920"/>
            <a:ext cx="46101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 resources to learn Cytometry in R to begin with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Those that exist aimed at those with intermediate-advanced R skills, not beginners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Know-how concentrated at a few institutions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self-learning attempts end in frustration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1320" cy="1314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R: A free weekly course for flow cytometrist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 no-to-little coding experience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6" name="Picture 5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4000" cy="39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" descr=""/>
          <p:cNvPicPr/>
          <p:nvPr/>
        </p:nvPicPr>
        <p:blipFill>
          <a:blip r:embed="rId2"/>
          <a:stretch/>
        </p:blipFill>
        <p:spPr>
          <a:xfrm>
            <a:off x="3500640" y="1081800"/>
            <a:ext cx="6817680" cy="15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" descr=""/>
          <p:cNvPicPr/>
          <p:nvPr/>
        </p:nvPicPr>
        <p:blipFill>
          <a:blip r:embed="rId3"/>
          <a:stretch/>
        </p:blipFill>
        <p:spPr>
          <a:xfrm>
            <a:off x="3483720" y="2774160"/>
            <a:ext cx="6834600" cy="401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9" name="Picture 52" descr=""/>
          <p:cNvPicPr/>
          <p:nvPr/>
        </p:nvPicPr>
        <p:blipFill>
          <a:blip r:embed="rId4"/>
          <a:stretch/>
        </p:blipFill>
        <p:spPr>
          <a:xfrm>
            <a:off x="757800" y="1094760"/>
            <a:ext cx="1969920" cy="145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0" name="Graphic 2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4800" y="3429000"/>
            <a:ext cx="1352520" cy="11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PlaceHolder 27"/>
          <p:cNvSpPr/>
          <p:nvPr/>
        </p:nvSpPr>
        <p:spPr>
          <a:xfrm>
            <a:off x="613800" y="4836600"/>
            <a:ext cx="1546920" cy="10440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" descr=""/>
          <p:cNvPicPr/>
          <p:nvPr/>
        </p:nvPicPr>
        <p:blipFill>
          <a:blip r:embed="rId7"/>
          <a:stretch/>
        </p:blipFill>
        <p:spPr>
          <a:xfrm>
            <a:off x="457200" y="6172200"/>
            <a:ext cx="1364040" cy="35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>
            <a:off x="6629400" y="1467000"/>
            <a:ext cx="4337280" cy="37846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14" name="" descr=""/>
          <p:cNvPicPr/>
          <p:nvPr/>
        </p:nvPicPr>
        <p:blipFill>
          <a:blip r:embed="rId1"/>
          <a:stretch/>
        </p:blipFill>
        <p:spPr>
          <a:xfrm>
            <a:off x="228600" y="868320"/>
            <a:ext cx="5708520" cy="552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760" cy="1315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YouTube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ectangle 23"/>
          <p:cNvSpPr/>
          <p:nvPr/>
        </p:nvSpPr>
        <p:spPr>
          <a:xfrm>
            <a:off x="6665400" y="1467000"/>
            <a:ext cx="459468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Three live-streams a week (accommodating different timezones and schedules)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Recordings available immediately after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Best of the weekly livestreams added to the playlist, cutting down on editing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7" name="Picture 13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544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8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>
            <a:off x="252000" y="1238040"/>
            <a:ext cx="4650120" cy="42418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760" cy="1315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Website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24"/>
          <p:cNvSpPr/>
          <p:nvPr/>
        </p:nvSpPr>
        <p:spPr>
          <a:xfrm>
            <a:off x="307440" y="1443600"/>
            <a:ext cx="459468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Created with Quarto, hosted via GitHub pages.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Code, code outputs, screenshots and explanations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Searchable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New weekly material added as a new .qmd file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2" name="Picture 13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44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" descr=""/>
          <p:cNvPicPr/>
          <p:nvPr/>
        </p:nvPicPr>
        <p:blipFill>
          <a:blip r:embed="rId2"/>
          <a:stretch/>
        </p:blipFill>
        <p:spPr>
          <a:xfrm>
            <a:off x="5029200" y="1062000"/>
            <a:ext cx="5397120" cy="441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5480" cy="3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>
            <a:off x="6773760" y="914400"/>
            <a:ext cx="4650120" cy="4794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760" cy="1315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GitHub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25"/>
          <p:cNvSpPr/>
          <p:nvPr/>
        </p:nvSpPr>
        <p:spPr>
          <a:xfrm>
            <a:off x="6828480" y="1048680"/>
            <a:ext cx="459468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 and datasets available via the GitHub repository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Course participants start course by creating GitHub account and forking the repository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After Positron is linked to GitHub account, pull locally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new material posted each week, sync and pull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8" name="Picture 13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44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9" name="" descr=""/>
          <p:cNvPicPr/>
          <p:nvPr/>
        </p:nvPicPr>
        <p:blipFill>
          <a:blip r:embed="rId2"/>
          <a:stretch/>
        </p:blipFill>
        <p:spPr>
          <a:xfrm>
            <a:off x="457200" y="914400"/>
            <a:ext cx="6040440" cy="480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>
            <a:off x="685800" y="2561400"/>
            <a:ext cx="4650120" cy="1365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2760" cy="1315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Discussion Forum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26"/>
          <p:cNvSpPr/>
          <p:nvPr/>
        </p:nvSpPr>
        <p:spPr>
          <a:xfrm>
            <a:off x="717480" y="2561400"/>
            <a:ext cx="459468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GitHub Discussions page has been repurposed as a community forum for questions, etc.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3" name="Picture 13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544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" descr=""/>
          <p:cNvPicPr/>
          <p:nvPr/>
        </p:nvPicPr>
        <p:blipFill>
          <a:blip r:embed="rId2"/>
          <a:stretch/>
        </p:blipFill>
        <p:spPr>
          <a:xfrm>
            <a:off x="5591520" y="914400"/>
            <a:ext cx="5832360" cy="50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>
            <a:off x="2569320" y="4523400"/>
            <a:ext cx="6621480" cy="15922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1320" cy="1314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Half-way through this passion project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Rectangle 4"/>
          <p:cNvSpPr/>
          <p:nvPr/>
        </p:nvSpPr>
        <p:spPr>
          <a:xfrm>
            <a:off x="2569320" y="4523400"/>
            <a:ext cx="702288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Wrapping up Cytometry Core module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Gathering steam to start on the Unsupervised Analysis section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8" name="Picture 5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4000" cy="39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9" name="" descr=""/>
          <p:cNvPicPr/>
          <p:nvPr/>
        </p:nvPicPr>
        <p:blipFill>
          <a:blip r:embed="rId2"/>
          <a:stretch/>
        </p:blipFill>
        <p:spPr>
          <a:xfrm>
            <a:off x="228600" y="914400"/>
            <a:ext cx="11652480" cy="343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4040" cy="35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"/>
          <p:cNvSpPr/>
          <p:nvPr/>
        </p:nvSpPr>
        <p:spPr>
          <a:xfrm rot="19411800">
            <a:off x="10548360" y="793440"/>
            <a:ext cx="453600" cy="910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1320" cy="1314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As scientist, our community is our strength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3" name="Picture 4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4000" cy="39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4040" cy="35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" descr=""/>
          <p:cNvPicPr/>
          <p:nvPr/>
        </p:nvPicPr>
        <p:blipFill>
          <a:blip r:embed="rId3"/>
          <a:srcRect l="0" t="0" r="32212" b="0"/>
          <a:stretch/>
        </p:blipFill>
        <p:spPr>
          <a:xfrm>
            <a:off x="2971800" y="1371600"/>
            <a:ext cx="4328280" cy="348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1320" cy="1314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Just my two over-caffeinated cents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7" name="Picture 6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4000" cy="39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4040" cy="35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9" name="" descr=""/>
          <p:cNvPicPr/>
          <p:nvPr/>
        </p:nvPicPr>
        <p:blipFill>
          <a:blip r:embed="rId3"/>
          <a:stretch/>
        </p:blipFill>
        <p:spPr>
          <a:xfrm>
            <a:off x="2871720" y="1233720"/>
            <a:ext cx="6957000" cy="379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>
            <a:off x="8686800" y="5137200"/>
            <a:ext cx="3088800" cy="4176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1" name=""/>
          <p:cNvSpPr/>
          <p:nvPr/>
        </p:nvSpPr>
        <p:spPr>
          <a:xfrm>
            <a:off x="349200" y="4885200"/>
            <a:ext cx="2161800" cy="5976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2" name=""/>
          <p:cNvSpPr/>
          <p:nvPr/>
        </p:nvSpPr>
        <p:spPr>
          <a:xfrm>
            <a:off x="10395000" y="2685600"/>
            <a:ext cx="1363680" cy="6778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3" name=""/>
          <p:cNvSpPr/>
          <p:nvPr/>
        </p:nvSpPr>
        <p:spPr>
          <a:xfrm>
            <a:off x="8458200" y="2649600"/>
            <a:ext cx="1363680" cy="6778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4" name=""/>
          <p:cNvSpPr/>
          <p:nvPr/>
        </p:nvSpPr>
        <p:spPr>
          <a:xfrm>
            <a:off x="4102200" y="3828600"/>
            <a:ext cx="3895200" cy="21114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5" name=""/>
          <p:cNvSpPr/>
          <p:nvPr/>
        </p:nvSpPr>
        <p:spPr>
          <a:xfrm>
            <a:off x="349200" y="3803400"/>
            <a:ext cx="2159280" cy="9082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6" name=""/>
          <p:cNvSpPr/>
          <p:nvPr/>
        </p:nvSpPr>
        <p:spPr>
          <a:xfrm>
            <a:off x="349200" y="1204200"/>
            <a:ext cx="3421080" cy="6796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7" name=""/>
          <p:cNvSpPr/>
          <p:nvPr/>
        </p:nvSpPr>
        <p:spPr>
          <a:xfrm>
            <a:off x="338400" y="2118600"/>
            <a:ext cx="3421080" cy="15922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3886200" y="46080"/>
            <a:ext cx="4560840" cy="1314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Acknowledgments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9" name="Picture 54" descr=""/>
          <p:cNvPicPr/>
          <p:nvPr/>
        </p:nvPicPr>
        <p:blipFill>
          <a:blip r:embed="rId1"/>
          <a:stretch/>
        </p:blipFill>
        <p:spPr>
          <a:xfrm>
            <a:off x="9290520" y="3457800"/>
            <a:ext cx="236016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0" name="Picture 55" descr=""/>
          <p:cNvPicPr/>
          <p:nvPr/>
        </p:nvPicPr>
        <p:blipFill>
          <a:blip r:embed="rId2"/>
          <a:stretch/>
        </p:blipFill>
        <p:spPr>
          <a:xfrm>
            <a:off x="9673200" y="3812400"/>
            <a:ext cx="197892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Content Placeholder 1"/>
          <p:cNvSpPr/>
          <p:nvPr/>
        </p:nvSpPr>
        <p:spPr>
          <a:xfrm>
            <a:off x="228600" y="3803400"/>
            <a:ext cx="3968640" cy="181764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Cristiana Cairo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Kirsten E. Lyke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Xiaoxuan Fan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23"/>
          <p:cNvSpPr/>
          <p:nvPr/>
        </p:nvSpPr>
        <p:spPr>
          <a:xfrm>
            <a:off x="255240" y="1215000"/>
            <a:ext cx="33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mothers and their infants, and their communities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24"/>
          <p:cNvSpPr/>
          <p:nvPr/>
        </p:nvSpPr>
        <p:spPr>
          <a:xfrm>
            <a:off x="302400" y="2203200"/>
            <a:ext cx="33962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the open-source contributors, developers, and maintainers, that collectively made the tool sets without which all of this would not be feasible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Content Placeholder 3"/>
          <p:cNvSpPr/>
          <p:nvPr/>
        </p:nvSpPr>
        <p:spPr>
          <a:xfrm>
            <a:off x="9829800" y="1486800"/>
            <a:ext cx="3968640" cy="181764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25"/>
          <p:cNvSpPr/>
          <p:nvPr/>
        </p:nvSpPr>
        <p:spPr>
          <a:xfrm>
            <a:off x="8001000" y="2846880"/>
            <a:ext cx="225324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26"/>
          <p:cNvSpPr/>
          <p:nvPr/>
        </p:nvSpPr>
        <p:spPr>
          <a:xfrm>
            <a:off x="10287000" y="2895120"/>
            <a:ext cx="15674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Bioconductor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Zulip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7" name="Picture 56" descr=""/>
          <p:cNvPicPr/>
          <p:nvPr/>
        </p:nvPicPr>
        <p:blipFill>
          <a:blip r:embed="rId3"/>
          <a:stretch/>
        </p:blipFill>
        <p:spPr>
          <a:xfrm>
            <a:off x="9144000" y="5715000"/>
            <a:ext cx="2739600" cy="107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Graphic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18880" y="5771520"/>
            <a:ext cx="3435120" cy="89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TextBox 27"/>
          <p:cNvSpPr/>
          <p:nvPr/>
        </p:nvSpPr>
        <p:spPr>
          <a:xfrm>
            <a:off x="228600" y="5065200"/>
            <a:ext cx="34974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spAutoFit/>
          </a:bodyPr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Daniela Franco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Natarajan Ayithan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0" name="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0200" y="1036800"/>
            <a:ext cx="1592280" cy="159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51000" y="1062000"/>
            <a:ext cx="1592280" cy="159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2" name="Picture 57" descr="A picture containing text, person, indoor, working&#10;&#10;Description automatically generated"/>
          <p:cNvPicPr/>
          <p:nvPr/>
        </p:nvPicPr>
        <p:blipFill>
          <a:blip r:embed="rId10"/>
          <a:stretch/>
        </p:blipFill>
        <p:spPr>
          <a:xfrm>
            <a:off x="4305240" y="1234080"/>
            <a:ext cx="3575520" cy="242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3" name="Picture 58" descr=""/>
          <p:cNvPicPr/>
          <p:nvPr/>
        </p:nvPicPr>
        <p:blipFill>
          <a:blip r:embed="rId11"/>
          <a:stretch/>
        </p:blipFill>
        <p:spPr>
          <a:xfrm>
            <a:off x="156600" y="122400"/>
            <a:ext cx="3575520" cy="93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4" name="Picture 59" descr=""/>
          <p:cNvPicPr/>
          <p:nvPr/>
        </p:nvPicPr>
        <p:blipFill>
          <a:blip r:embed="rId12"/>
          <a:stretch/>
        </p:blipFill>
        <p:spPr>
          <a:xfrm>
            <a:off x="9493200" y="109080"/>
            <a:ext cx="2511000" cy="93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Rectangle 14"/>
          <p:cNvSpPr/>
          <p:nvPr/>
        </p:nvSpPr>
        <p:spPr>
          <a:xfrm>
            <a:off x="4138200" y="3850200"/>
            <a:ext cx="373860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U01 HD092309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15"/>
          <p:cNvSpPr/>
          <p:nvPr/>
        </p:nvSpPr>
        <p:spPr>
          <a:xfrm>
            <a:off x="8602200" y="4201200"/>
            <a:ext cx="3738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www.linkedin.com/in/david-rach/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7" name="" descr=""/>
          <p:cNvPicPr/>
          <p:nvPr/>
        </p:nvPicPr>
        <p:blipFill>
          <a:blip r:embed="rId13"/>
          <a:stretch/>
        </p:blipFill>
        <p:spPr>
          <a:xfrm>
            <a:off x="8769600" y="4201200"/>
            <a:ext cx="3985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"/>
          <p:cNvSpPr/>
          <p:nvPr/>
        </p:nvSpPr>
        <p:spPr>
          <a:xfrm>
            <a:off x="8686800" y="4597200"/>
            <a:ext cx="3088800" cy="4176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9" name=""/>
          <p:cNvSpPr/>
          <p:nvPr/>
        </p:nvSpPr>
        <p:spPr>
          <a:xfrm>
            <a:off x="8686800" y="4633200"/>
            <a:ext cx="30042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Want to collaborate? Reach out!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7894800" y="5172840"/>
            <a:ext cx="3004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                      Hiring?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1" name="" descr=""/>
          <p:cNvPicPr/>
          <p:nvPr/>
        </p:nvPicPr>
        <p:blipFill>
          <a:blip r:embed="rId14"/>
          <a:stretch/>
        </p:blipFill>
        <p:spPr>
          <a:xfrm>
            <a:off x="10395000" y="5208840"/>
            <a:ext cx="398880" cy="3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1143000" y="-182520"/>
            <a:ext cx="10052280" cy="13194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Rectangle 192"/>
          <p:cNvSpPr/>
          <p:nvPr/>
        </p:nvSpPr>
        <p:spPr>
          <a:xfrm>
            <a:off x="8557200" y="2791800"/>
            <a:ext cx="2965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UMGCCC FCSR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dashboard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193"/>
          <p:cNvSpPr/>
          <p:nvPr/>
        </p:nvSpPr>
        <p:spPr>
          <a:xfrm>
            <a:off x="4991400" y="5257800"/>
            <a:ext cx="296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YouTube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@CytometryInR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194"/>
          <p:cNvSpPr/>
          <p:nvPr/>
        </p:nvSpPr>
        <p:spPr>
          <a:xfrm>
            <a:off x="4991400" y="2791800"/>
            <a:ext cx="296568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 - 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195"/>
          <p:cNvSpPr/>
          <p:nvPr/>
        </p:nvSpPr>
        <p:spPr>
          <a:xfrm>
            <a:off x="876600" y="2791800"/>
            <a:ext cx="296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Luciernaga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196"/>
          <p:cNvSpPr/>
          <p:nvPr/>
        </p:nvSpPr>
        <p:spPr>
          <a:xfrm>
            <a:off x="876600" y="5257800"/>
            <a:ext cx="296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197"/>
          <p:cNvSpPr/>
          <p:nvPr/>
        </p:nvSpPr>
        <p:spPr>
          <a:xfrm>
            <a:off x="8557200" y="5029200"/>
            <a:ext cx="2965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How-To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9" name="Picture 198" descr=""/>
          <p:cNvPicPr/>
          <p:nvPr/>
        </p:nvPicPr>
        <p:blipFill>
          <a:blip r:embed="rId1"/>
          <a:stretch/>
        </p:blipFill>
        <p:spPr>
          <a:xfrm>
            <a:off x="4023000" y="3578400"/>
            <a:ext cx="2105280" cy="15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Picture 199" descr=""/>
          <p:cNvPicPr/>
          <p:nvPr/>
        </p:nvPicPr>
        <p:blipFill>
          <a:blip r:embed="rId2"/>
          <a:stretch/>
        </p:blipFill>
        <p:spPr>
          <a:xfrm>
            <a:off x="171720" y="3596400"/>
            <a:ext cx="1841760" cy="15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1" name="Picture 200" descr=""/>
          <p:cNvPicPr/>
          <p:nvPr/>
        </p:nvPicPr>
        <p:blipFill>
          <a:blip r:embed="rId3"/>
          <a:stretch/>
        </p:blipFill>
        <p:spPr>
          <a:xfrm>
            <a:off x="8557200" y="3673440"/>
            <a:ext cx="1365480" cy="157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2" name="Picture 201" descr=""/>
          <p:cNvPicPr/>
          <p:nvPr/>
        </p:nvPicPr>
        <p:blipFill>
          <a:blip r:embed="rId4"/>
          <a:stretch/>
        </p:blipFill>
        <p:spPr>
          <a:xfrm>
            <a:off x="208080" y="1071000"/>
            <a:ext cx="1841400" cy="15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Picture 202" descr=""/>
          <p:cNvPicPr/>
          <p:nvPr/>
        </p:nvPicPr>
        <p:blipFill>
          <a:blip r:embed="rId5"/>
          <a:srcRect l="33723" t="6681" r="35970" b="0"/>
          <a:stretch/>
        </p:blipFill>
        <p:spPr>
          <a:xfrm rot="24000">
            <a:off x="8186760" y="1119960"/>
            <a:ext cx="1952640" cy="158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Picture 203" descr=""/>
          <p:cNvPicPr/>
          <p:nvPr/>
        </p:nvPicPr>
        <p:blipFill>
          <a:blip r:embed="rId6"/>
          <a:stretch/>
        </p:blipFill>
        <p:spPr>
          <a:xfrm>
            <a:off x="4023000" y="1035000"/>
            <a:ext cx="2105280" cy="15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Graphic 20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2140200" y="3429000"/>
            <a:ext cx="1822680" cy="182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6" name="Graphic 205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134400" y="3429000"/>
            <a:ext cx="1822680" cy="182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7" name="Graphic 206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2140200" y="927000"/>
            <a:ext cx="1822680" cy="182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Graphic 207" descr="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0121400" y="963000"/>
            <a:ext cx="1822680" cy="182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Graphic 208" descr="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10157400" y="3537000"/>
            <a:ext cx="1686960" cy="168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0" name="Graphic 209" descr="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6134400" y="963000"/>
            <a:ext cx="1822680" cy="182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1" name="" descr=""/>
          <p:cNvPicPr/>
          <p:nvPr/>
        </p:nvPicPr>
        <p:blipFill>
          <a:blip r:embed="rId19"/>
          <a:stretch/>
        </p:blipFill>
        <p:spPr>
          <a:xfrm>
            <a:off x="230760" y="6172920"/>
            <a:ext cx="1364040" cy="35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2" name="Picture 49" descr=""/>
          <p:cNvPicPr/>
          <p:nvPr/>
        </p:nvPicPr>
        <p:blipFill>
          <a:blip r:embed="rId20"/>
          <a:stretch/>
        </p:blipFill>
        <p:spPr>
          <a:xfrm>
            <a:off x="10435680" y="6172560"/>
            <a:ext cx="1134000" cy="39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685</TotalTime>
  <Application>LibreOffice/25.2.3.2$Linux_X86_64 LibreOffice_project/520$Build-2</Application>
  <AppVersion>15.0000</AppVersion>
  <Words>1146</Words>
  <Paragraphs>268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2025-07-21T11:58:18Z</dcterms:created>
  <dc:creator>Thomas Evans</dc:creator>
  <dc:description/>
  <dc:language>en-US</dc:language>
  <cp:lastModifiedBy/>
  <dcterms:modified xsi:type="dcterms:W3CDTF">2026-10-24T21:18:11Z</dcterms:modified>
  <cp:revision>78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0x010100804A9A38EF1C6344A4E9D5FEC9AF05B5</vt:lpwstr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39</vt:i4>
  </property>
  <property fmtid="{D5CDD505-2E9C-101B-9397-08002B2CF9AE}" pid="6" name="_dlc_DocIdItemGuid">
    <vt:lpwstr>4d3e5825-e8bc-4995-b9ad-4f8ee15e5c87</vt:lpwstr>
  </property>
</Properties>
</file>