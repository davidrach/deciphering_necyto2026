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5.png" ContentType="image/png"/>
  <Override PartName="/ppt/media/image49.svg" ContentType="image/svg"/>
  <Override PartName="/ppt/media/image24.png" ContentType="image/png"/>
  <Override PartName="/ppt/media/image11.svg" ContentType="image/svg"/>
  <Override PartName="/ppt/media/image23.png" ContentType="image/png"/>
  <Override PartName="/ppt/media/image22.png" ContentType="image/png"/>
  <Override PartName="/ppt/media/image26.png" ContentType="image/png"/>
  <Override PartName="/ppt/media/image20.jpeg" ContentType="image/jpeg"/>
  <Override PartName="/ppt/media/image17.png" ContentType="image/png"/>
  <Override PartName="/ppt/media/image21.png" ContentType="image/png"/>
  <Override PartName="/ppt/media/image58.png" ContentType="image/png"/>
  <Override PartName="/ppt/media/image19.png" ContentType="image/png"/>
  <Override PartName="/ppt/media/image18.svg" ContentType="image/svg"/>
  <Override PartName="/ppt/media/image2.png" ContentType="image/png"/>
  <Override PartName="/ppt/media/image34.png" ContentType="image/png"/>
  <Override PartName="/ppt/media/image3.svg" ContentType="image/svg"/>
  <Override PartName="/ppt/media/image48.png" ContentType="image/png"/>
  <Override PartName="/ppt/media/image15.png" ContentType="image/png"/>
  <Override PartName="/ppt/media/image39.svg" ContentType="image/svg"/>
  <Override PartName="/ppt/media/image6.png" ContentType="image/png"/>
  <Override PartName="/ppt/media/image8.jpeg" ContentType="image/jpeg"/>
  <Override PartName="/ppt/media/image38.png" ContentType="image/png"/>
  <Override PartName="/ppt/media/image1.png" ContentType="image/png"/>
  <Override PartName="/ppt/media/image33.png" ContentType="image/png"/>
  <Override PartName="/ppt/media/image10.png" ContentType="image/png"/>
  <Override PartName="/ppt/media/image47.png" ContentType="image/png"/>
  <Override PartName="/ppt/media/image14.png" ContentType="image/png"/>
  <Override PartName="/ppt/media/image5.png" ContentType="image/png"/>
  <Override PartName="/ppt/media/image28.png" ContentType="image/png"/>
  <Override PartName="/ppt/media/image41.png" ContentType="image/png"/>
  <Override PartName="/ppt/media/image43.png" ContentType="image/png"/>
  <Override PartName="/ppt/media/image46.png" ContentType="image/png"/>
  <Override PartName="/ppt/media/image50.png" ContentType="image/png"/>
  <Override PartName="/ppt/media/image52.png" ContentType="image/png"/>
  <Override PartName="/ppt/media/image42.png" ContentType="image/png"/>
  <Override PartName="/ppt/media/image53.svg" ContentType="image/svg"/>
  <Override PartName="/ppt/media/image40.jpeg" ContentType="image/jpeg"/>
  <Override PartName="/ppt/media/image51.svg" ContentType="image/svg"/>
  <Override PartName="/ppt/media/image54.png" ContentType="image/png"/>
  <Override PartName="/ppt/media/image44.png" ContentType="image/png"/>
  <Override PartName="/ppt/media/image56.png" ContentType="image/png"/>
  <Override PartName="/ppt/media/image45.png" ContentType="image/png"/>
  <Override PartName="/ppt/media/image57.png" ContentType="image/png"/>
  <Override PartName="/ppt/media/image59.svg" ContentType="image/svg"/>
  <Override PartName="/ppt/media/image35.png" ContentType="image/png"/>
  <Override PartName="/ppt/media/image32.png" ContentType="image/png"/>
  <Override PartName="/ppt/media/image55.svg" ContentType="image/svg"/>
  <Override PartName="/ppt/media/image31.png" ContentType="image/png"/>
  <Override PartName="/ppt/media/image30.png" ContentType="image/png"/>
  <Override PartName="/ppt/media/image12.png" ContentType="image/png"/>
  <Override PartName="/ppt/media/image13.png" ContentType="image/png"/>
  <Override PartName="/ppt/media/image37.svg" ContentType="image/svg"/>
  <Override PartName="/ppt/media/image4.png" ContentType="image/png"/>
  <Override PartName="/ppt/media/image36.png" ContentType="image/png"/>
  <Override PartName="/ppt/media/image9.png" ContentType="image/png"/>
  <Override PartName="/ppt/media/image7.png" ContentType="image/png"/>
  <Override PartName="/ppt/media/image16.png" ContentType="image/png"/>
  <Override PartName="/ppt/media/image27.svg" ContentType="image/svg"/>
  <Override PartName="/ppt/slides/_rels/slide54.xml.rels" ContentType="application/vnd.openxmlformats-package.relationships+xml"/>
  <Override PartName="/ppt/slides/_rels/slide53.xml.rels" ContentType="application/vnd.openxmlformats-package.relationships+xml"/>
  <Override PartName="/ppt/slides/_rels/slide16.xml.rels" ContentType="application/vnd.openxmlformats-package.relationships+xml"/>
  <Override PartName="/ppt/slides/_rels/slide55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4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8.xml.rels" ContentType="application/vnd.openxmlformats-package.relationships+xml"/>
  <Override PartName="/ppt/slides/_rels/slide5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60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7.xml.rels" ContentType="application/vnd.openxmlformats-package.relationships+xml"/>
  <Override PartName="/ppt/slides/_rels/slide15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46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59.xml.rels" ContentType="application/vnd.openxmlformats-package.relationships+xml"/>
  <Override PartName="/ppt/slides/_rels/slide13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52.xml.rels" ContentType="application/vnd.openxmlformats-package.relationships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18.xml" ContentType="application/vnd.openxmlformats-officedocument.presentationml.slide+xml"/>
  <Override PartName="/ppt/slides/slide60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_rels/notesSlide56.xml.rels" ContentType="application/vnd.openxmlformats-package.relationships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</p:sldMasterIdLst>
  <p:notesMasterIdLst>
    <p:notesMasterId r:id="rId23"/>
  </p:notes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  <p:sldId id="299" r:id="rId67"/>
    <p:sldId id="300" r:id="rId68"/>
    <p:sldId id="301" r:id="rId69"/>
    <p:sldId id="302" r:id="rId70"/>
    <p:sldId id="303" r:id="rId71"/>
    <p:sldId id="304" r:id="rId72"/>
    <p:sldId id="305" r:id="rId73"/>
    <p:sldId id="306" r:id="rId74"/>
    <p:sldId id="307" r:id="rId75"/>
    <p:sldId id="308" r:id="rId76"/>
    <p:sldId id="309" r:id="rId77"/>
    <p:sldId id="310" r:id="rId78"/>
    <p:sldId id="311" r:id="rId79"/>
    <p:sldId id="312" r:id="rId80"/>
    <p:sldId id="313" r:id="rId81"/>
    <p:sldId id="314" r:id="rId82"/>
    <p:sldId id="315" r:id="rId83"/>
    <p:sldId id="316" r:id="rId8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2" Type="http://schemas.openxmlformats.org/officeDocument/2006/relationships/slide" Target="slides/slide29.xml"/><Relationship Id="rId53" Type="http://schemas.openxmlformats.org/officeDocument/2006/relationships/slide" Target="slides/slide30.xml"/><Relationship Id="rId54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33.xml"/><Relationship Id="rId57" Type="http://schemas.openxmlformats.org/officeDocument/2006/relationships/slide" Target="slides/slide34.xml"/><Relationship Id="rId58" Type="http://schemas.openxmlformats.org/officeDocument/2006/relationships/slide" Target="slides/slide35.xml"/><Relationship Id="rId59" Type="http://schemas.openxmlformats.org/officeDocument/2006/relationships/slide" Target="slides/slide36.xml"/><Relationship Id="rId60" Type="http://schemas.openxmlformats.org/officeDocument/2006/relationships/slide" Target="slides/slide37.xml"/><Relationship Id="rId61" Type="http://schemas.openxmlformats.org/officeDocument/2006/relationships/slide" Target="slides/slide38.xml"/><Relationship Id="rId62" Type="http://schemas.openxmlformats.org/officeDocument/2006/relationships/slide" Target="slides/slide39.xml"/><Relationship Id="rId63" Type="http://schemas.openxmlformats.org/officeDocument/2006/relationships/slide" Target="slides/slide40.xml"/><Relationship Id="rId64" Type="http://schemas.openxmlformats.org/officeDocument/2006/relationships/slide" Target="slides/slide41.xml"/><Relationship Id="rId65" Type="http://schemas.openxmlformats.org/officeDocument/2006/relationships/slide" Target="slides/slide42.xml"/><Relationship Id="rId66" Type="http://schemas.openxmlformats.org/officeDocument/2006/relationships/slide" Target="slides/slide43.xml"/><Relationship Id="rId67" Type="http://schemas.openxmlformats.org/officeDocument/2006/relationships/slide" Target="slides/slide44.xml"/><Relationship Id="rId68" Type="http://schemas.openxmlformats.org/officeDocument/2006/relationships/slide" Target="slides/slide45.xml"/><Relationship Id="rId69" Type="http://schemas.openxmlformats.org/officeDocument/2006/relationships/slide" Target="slides/slide46.xml"/><Relationship Id="rId70" Type="http://schemas.openxmlformats.org/officeDocument/2006/relationships/slide" Target="slides/slide47.xml"/><Relationship Id="rId71" Type="http://schemas.openxmlformats.org/officeDocument/2006/relationships/slide" Target="slides/slide48.xml"/><Relationship Id="rId72" Type="http://schemas.openxmlformats.org/officeDocument/2006/relationships/slide" Target="slides/slide49.xml"/><Relationship Id="rId73" Type="http://schemas.openxmlformats.org/officeDocument/2006/relationships/slide" Target="slides/slide50.xml"/><Relationship Id="rId74" Type="http://schemas.openxmlformats.org/officeDocument/2006/relationships/slide" Target="slides/slide51.xml"/><Relationship Id="rId75" Type="http://schemas.openxmlformats.org/officeDocument/2006/relationships/slide" Target="slides/slide52.xml"/><Relationship Id="rId76" Type="http://schemas.openxmlformats.org/officeDocument/2006/relationships/slide" Target="slides/slide53.xml"/><Relationship Id="rId77" Type="http://schemas.openxmlformats.org/officeDocument/2006/relationships/slide" Target="slides/slide54.xml"/><Relationship Id="rId78" Type="http://schemas.openxmlformats.org/officeDocument/2006/relationships/slide" Target="slides/slide55.xml"/><Relationship Id="rId79" Type="http://schemas.openxmlformats.org/officeDocument/2006/relationships/slide" Target="slides/slide56.xml"/><Relationship Id="rId80" Type="http://schemas.openxmlformats.org/officeDocument/2006/relationships/slide" Target="slides/slide57.xml"/><Relationship Id="rId81" Type="http://schemas.openxmlformats.org/officeDocument/2006/relationships/slide" Target="slides/slide58.xml"/><Relationship Id="rId82" Type="http://schemas.openxmlformats.org/officeDocument/2006/relationships/slide" Target="slides/slide59.xml"/><Relationship Id="rId83" Type="http://schemas.openxmlformats.org/officeDocument/2006/relationships/slide" Target="slides/slide60.xml"/><Relationship Id="rId84" Type="http://schemas.openxmlformats.org/officeDocument/2006/relationships/slide" Target="slides/slide61.xml"/><Relationship Id="rId8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dt" idx="6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ftr" idx="6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PlaceHolder 6"/>
          <p:cNvSpPr>
            <a:spLocks noGrp="1"/>
          </p:cNvSpPr>
          <p:nvPr>
            <p:ph type="sldNum" idx="6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37171EF-81AE-4A13-BF51-0DA832686B7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2800" cy="3384360"/>
          </a:xfrm>
          <a:prstGeom prst="rect">
            <a:avLst/>
          </a:prstGeom>
          <a:ln w="0">
            <a:noFill/>
          </a:ln>
        </p:spPr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67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PlaceHolder 3"/>
          <p:cNvSpPr>
            <a:spLocks noGrp="1"/>
          </p:cNvSpPr>
          <p:nvPr>
            <p:ph type="sldNum" idx="67"/>
          </p:nvPr>
        </p:nvSpPr>
        <p:spPr>
          <a:xfrm>
            <a:off x="4402080" y="9553680"/>
            <a:ext cx="3358800" cy="4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461509-9562-4DAC-A5AE-6EF32238AC36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55E719-7F18-4964-AAB5-5BB71ABC315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AC7916-F3BD-41BB-BEEE-5F75D1A52ED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68A20A-5B57-478E-AD82-807FA696DA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74E1012-9CFB-4992-8878-8E1BCB9FC2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0501AD-26AB-4BAA-A71C-D46A8933C7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9F14CE4-A8CC-4457-AFBF-AF7C238C2A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469D1AE-EF2D-45EB-B1C6-ED85F744923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0B5CC4D-D3A8-43C7-AFF1-C5069EAE004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8907F30-0852-485F-864B-96485754363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BC0E83D-D79A-4E97-B522-AE500C0781B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1296B20-CC5C-4AB1-9608-25744DE5435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702CD68-C8C8-4128-9E6A-D08C750EF1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A73947F-EDD4-4C8A-9A7A-4586317DF0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3423F11-92FE-4DBE-8BE9-F292B4CCFB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9205828-D48F-4CD1-A3BF-297AE75B83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716B158-7A69-4426-9832-4C6040587B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E3FE0B3-D602-4AE3-A8D3-CC3247F00C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799718E-7357-4EA4-9D82-52BB30FF3B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4D05254-6843-465E-AED5-BECD00755A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8F96A91-3E2D-43B0-ADF3-C3959436B5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87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ubTitle"/>
          </p:nvPr>
        </p:nvSpPr>
        <p:spPr>
          <a:xfrm>
            <a:off x="609480" y="-2268360"/>
            <a:ext cx="144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B21E1E4F-5BE0-47CD-AC7E-F9DA83B7C0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281BAE-EA2A-4603-8CAB-A88BC705038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99F364-1A47-4279-BC15-4A9D4AD98A3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349DDC-06E2-45E1-9592-E7E8E2F5642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1859F8-8FEB-4F6E-9A3A-5EF4A6E1A73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FD903F-B2CB-41C6-A735-DC512EFB657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84CB9F-DE0C-47CA-B447-26D8E34C68F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2BAC5A-A537-4C22-8C81-3E72CA26F8D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B1EEE7-1526-4700-916E-4B18ED71375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6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79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7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665837-D07D-49A3-A002-9AEFDE3EB66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8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6360" cy="358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865FC8-EDD8-4054-9681-38BE3D60DBC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FA2B63-E74A-4214-B5A4-97398D9EC95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1BC962-37FC-4C9D-8D51-F46C63093AF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91226F-AD53-417C-939E-43644339411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D4010B-E13D-4142-AF00-FEC07126FC9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58BF40-0F24-47AC-9A29-F814E74CBBE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EA8F92-7123-44E4-80A7-82FBC444ECE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BC3DAA-EA92-4A3E-AB92-013D85AE1AC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AFCFB4-4B89-473E-8561-B8574D3A4F9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ftr" idx="55"/>
          </p:nvPr>
        </p:nvSpPr>
        <p:spPr>
          <a:xfrm>
            <a:off x="3447360" y="5165280"/>
            <a:ext cx="3186720" cy="38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56"/>
          </p:nvPr>
        </p:nvSpPr>
        <p:spPr>
          <a:xfrm>
            <a:off x="7227360" y="5165280"/>
            <a:ext cx="2340000" cy="38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BA20A2-F5A2-4461-85E0-B5F3349D9F5D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dt" idx="57"/>
          </p:nvPr>
        </p:nvSpPr>
        <p:spPr>
          <a:xfrm>
            <a:off x="504000" y="5165280"/>
            <a:ext cx="2340000" cy="38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043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5B78F9-A5C9-414E-BD5B-1C661A8CC55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32760" cy="354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ftr" idx="61"/>
          </p:nvPr>
        </p:nvSpPr>
        <p:spPr>
          <a:xfrm>
            <a:off x="3447360" y="5165280"/>
            <a:ext cx="318780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62"/>
          </p:nvPr>
        </p:nvSpPr>
        <p:spPr>
          <a:xfrm>
            <a:off x="7227360" y="5165280"/>
            <a:ext cx="234108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31FE93-93F9-4F65-A993-3EF53E844B30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 type="dt" idx="63"/>
          </p:nvPr>
        </p:nvSpPr>
        <p:spPr>
          <a:xfrm>
            <a:off x="504000" y="5165280"/>
            <a:ext cx="234108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svg"/><Relationship Id="rId6" Type="http://schemas.openxmlformats.org/officeDocument/2006/relationships/image" Target="../media/image19.png"/><Relationship Id="rId7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20.jpeg"/><Relationship Id="rId4" Type="http://schemas.openxmlformats.org/officeDocument/2006/relationships/slideLayout" Target="../slideLayouts/slideLayout1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sv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1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9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1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2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36.png"/><Relationship Id="rId7" Type="http://schemas.openxmlformats.org/officeDocument/2006/relationships/image" Target="../media/image37.svg"/><Relationship Id="rId8" Type="http://schemas.openxmlformats.org/officeDocument/2006/relationships/image" Target="../media/image38.png"/><Relationship Id="rId9" Type="http://schemas.openxmlformats.org/officeDocument/2006/relationships/image" Target="../media/image39.svg"/><Relationship Id="rId10" Type="http://schemas.openxmlformats.org/officeDocument/2006/relationships/image" Target="../media/image40.jpe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Relationship Id="rId15" Type="http://schemas.openxmlformats.org/officeDocument/2006/relationships/slideLayout" Target="../slideLayouts/slideLayout11.xml"/><Relationship Id="rId16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45.png"/><Relationship Id="rId3" Type="http://schemas.openxmlformats.org/officeDocument/2006/relationships/image" Target="../media/image33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25.png"/><Relationship Id="rId7" Type="http://schemas.openxmlformats.org/officeDocument/2006/relationships/image" Target="../media/image48.png"/><Relationship Id="rId8" Type="http://schemas.openxmlformats.org/officeDocument/2006/relationships/image" Target="../media/image49.svg"/><Relationship Id="rId9" Type="http://schemas.openxmlformats.org/officeDocument/2006/relationships/image" Target="../media/image50.png"/><Relationship Id="rId10" Type="http://schemas.openxmlformats.org/officeDocument/2006/relationships/image" Target="../media/image51.svg"/><Relationship Id="rId11" Type="http://schemas.openxmlformats.org/officeDocument/2006/relationships/image" Target="../media/image52.png"/><Relationship Id="rId12" Type="http://schemas.openxmlformats.org/officeDocument/2006/relationships/image" Target="../media/image53.svg"/><Relationship Id="rId13" Type="http://schemas.openxmlformats.org/officeDocument/2006/relationships/image" Target="../media/image17.png"/><Relationship Id="rId14" Type="http://schemas.openxmlformats.org/officeDocument/2006/relationships/image" Target="../media/image18.svg"/><Relationship Id="rId15" Type="http://schemas.openxmlformats.org/officeDocument/2006/relationships/image" Target="../media/image54.png"/><Relationship Id="rId16" Type="http://schemas.openxmlformats.org/officeDocument/2006/relationships/image" Target="../media/image55.svg"/><Relationship Id="rId17" Type="http://schemas.openxmlformats.org/officeDocument/2006/relationships/image" Target="../media/image26.png"/><Relationship Id="rId18" Type="http://schemas.openxmlformats.org/officeDocument/2006/relationships/image" Target="../media/image27.svg"/><Relationship Id="rId19" Type="http://schemas.openxmlformats.org/officeDocument/2006/relationships/image" Target="../media/image6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46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Relationship Id="rId6" Type="http://schemas.openxmlformats.org/officeDocument/2006/relationships/image" Target="../media/image56.png"/><Relationship Id="rId7" Type="http://schemas.openxmlformats.org/officeDocument/2006/relationships/image" Target="../media/image25.png"/><Relationship Id="rId8" Type="http://schemas.openxmlformats.org/officeDocument/2006/relationships/slideLayout" Target="../slideLayouts/slideLayout2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08760" cy="1820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November 05,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TextBox 2"/>
          <p:cNvSpPr/>
          <p:nvPr/>
        </p:nvSpPr>
        <p:spPr>
          <a:xfrm>
            <a:off x="122760" y="6404400"/>
            <a:ext cx="21013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1840" cy="95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0320" cy="125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"/>
          <p:cNvSpPr/>
          <p:nvPr/>
        </p:nvSpPr>
        <p:spPr>
          <a:xfrm>
            <a:off x="457200" y="3657600"/>
            <a:ext cx="1173168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“Deciphering the black box”: leveraging shared-resource laboratory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resources to tackle spectral flow cytometry’s quirks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" descr=""/>
          <p:cNvPicPr/>
          <p:nvPr/>
        </p:nvPicPr>
        <p:blipFill>
          <a:blip r:embed="rId5"/>
          <a:stretch/>
        </p:blipFill>
        <p:spPr>
          <a:xfrm>
            <a:off x="842400" y="5126760"/>
            <a:ext cx="1061280" cy="1156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6400800" y="4114800"/>
            <a:ext cx="5257440" cy="1142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6400800" y="2534400"/>
            <a:ext cx="5250240" cy="12722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6400800" y="914400"/>
            <a:ext cx="5250240" cy="12722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"/>
          <p:cNvSpPr/>
          <p:nvPr/>
        </p:nvSpPr>
        <p:spPr>
          <a:xfrm>
            <a:off x="6393600" y="2534400"/>
            <a:ext cx="525744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Permits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6400800" y="914400"/>
            <a:ext cx="526824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6400800" y="4114800"/>
            <a:ext cx="525744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can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4" name="Picture 1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Picture 70" descr=""/>
          <p:cNvPicPr/>
          <p:nvPr/>
        </p:nvPicPr>
        <p:blipFill>
          <a:blip r:embed="rId3"/>
          <a:stretch/>
        </p:blipFill>
        <p:spPr>
          <a:xfrm>
            <a:off x="793800" y="878400"/>
            <a:ext cx="5378040" cy="434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Making previously difficult studies possible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8" name="Picture 9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"/>
          <p:cNvSpPr/>
          <p:nvPr/>
        </p:nvSpPr>
        <p:spPr>
          <a:xfrm>
            <a:off x="914400" y="3587400"/>
            <a:ext cx="5257440" cy="8150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"/>
          <p:cNvSpPr/>
          <p:nvPr/>
        </p:nvSpPr>
        <p:spPr>
          <a:xfrm>
            <a:off x="914400" y="2390400"/>
            <a:ext cx="5229000" cy="976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2" name=""/>
          <p:cNvSpPr/>
          <p:nvPr/>
        </p:nvSpPr>
        <p:spPr>
          <a:xfrm>
            <a:off x="893160" y="1202400"/>
            <a:ext cx="5250240" cy="97668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3" name=""/>
          <p:cNvSpPr/>
          <p:nvPr/>
        </p:nvSpPr>
        <p:spPr>
          <a:xfrm>
            <a:off x="914400" y="2390400"/>
            <a:ext cx="525744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Invaluable for clinical studies with limited biospecimen → 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893160" y="1202400"/>
            <a:ext cx="524700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→identify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have previously been overlooked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914400" y="3587400"/>
            <a:ext cx="5257440" cy="81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understanding of immune system heterogeneity in response to infection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6" name="" descr=""/>
          <p:cNvPicPr/>
          <p:nvPr/>
        </p:nvPicPr>
        <p:blipFill>
          <a:blip r:embed="rId3"/>
          <a:stretch/>
        </p:blipFill>
        <p:spPr>
          <a:xfrm>
            <a:off x="6405120" y="914400"/>
            <a:ext cx="5253120" cy="393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Sharing community best practices drives SFC success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2" name="Picture 9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"/>
          <p:cNvSpPr/>
          <p:nvPr/>
        </p:nvSpPr>
        <p:spPr>
          <a:xfrm>
            <a:off x="6401160" y="2746800"/>
            <a:ext cx="5257440" cy="6854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5" name=""/>
          <p:cNvSpPr/>
          <p:nvPr/>
        </p:nvSpPr>
        <p:spPr>
          <a:xfrm>
            <a:off x="6401160" y="1850400"/>
            <a:ext cx="5250240" cy="6656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"/>
          <p:cNvSpPr/>
          <p:nvPr/>
        </p:nvSpPr>
        <p:spPr>
          <a:xfrm>
            <a:off x="6401160" y="9144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7" name=""/>
          <p:cNvSpPr/>
          <p:nvPr/>
        </p:nvSpPr>
        <p:spPr>
          <a:xfrm>
            <a:off x="6393960" y="18504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sharing of best practices is what enables the acquisition of good quality data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6401160" y="9144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 rapid and widespread adoption was not driven solely by the technology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6401160" y="27468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hoarded our unmixing tips-and-tricks, fewer people would have switched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" descr=""/>
          <p:cNvPicPr/>
          <p:nvPr/>
        </p:nvPicPr>
        <p:blipFill>
          <a:blip r:embed="rId3"/>
          <a:stretch/>
        </p:blipFill>
        <p:spPr>
          <a:xfrm>
            <a:off x="914400" y="914400"/>
            <a:ext cx="5253120" cy="393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SFC’s quirks are a force of nature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6" name="Picture 10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"/>
          <p:cNvSpPr/>
          <p:nvPr/>
        </p:nvSpPr>
        <p:spPr>
          <a:xfrm>
            <a:off x="932400" y="2995200"/>
            <a:ext cx="5257440" cy="6854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9" name=""/>
          <p:cNvSpPr/>
          <p:nvPr/>
        </p:nvSpPr>
        <p:spPr>
          <a:xfrm>
            <a:off x="93240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93240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"/>
          <p:cNvSpPr/>
          <p:nvPr/>
        </p:nvSpPr>
        <p:spPr>
          <a:xfrm>
            <a:off x="925200" y="1846800"/>
            <a:ext cx="525744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Not something you can expect to throw random markers and fluorophores and do well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93240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 requires synthesis of a lot of factors to get good quality data out of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93240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of these quirks are still not well defined, and consequently no solutions exist.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4" name=""/>
          <p:cNvGrpSpPr/>
          <p:nvPr/>
        </p:nvGrpSpPr>
        <p:grpSpPr>
          <a:xfrm>
            <a:off x="6316200" y="1371600"/>
            <a:ext cx="5342400" cy="3880800"/>
            <a:chOff x="6316200" y="1371600"/>
            <a:chExt cx="5342400" cy="3880800"/>
          </a:xfrm>
        </p:grpSpPr>
        <p:pic>
          <p:nvPicPr>
            <p:cNvPr id="265" name="" descr=""/>
            <p:cNvPicPr/>
            <p:nvPr/>
          </p:nvPicPr>
          <p:blipFill>
            <a:blip r:embed="rId3"/>
            <a:stretch/>
          </p:blipFill>
          <p:spPr>
            <a:xfrm>
              <a:off x="6316200" y="1371600"/>
              <a:ext cx="5342400" cy="3880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66" name="" descr=""/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/>
          </p:blipFill>
          <p:spPr>
            <a:xfrm>
              <a:off x="6800040" y="4302720"/>
              <a:ext cx="908640" cy="94968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Co-expression in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2" name="Picture 10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" name=""/>
          <p:cNvSpPr/>
          <p:nvPr/>
        </p:nvSpPr>
        <p:spPr>
          <a:xfrm>
            <a:off x="640476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5" name=""/>
          <p:cNvSpPr/>
          <p:nvPr/>
        </p:nvSpPr>
        <p:spPr>
          <a:xfrm>
            <a:off x="640476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640476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7" name=""/>
          <p:cNvSpPr/>
          <p:nvPr/>
        </p:nvSpPr>
        <p:spPr>
          <a:xfrm>
            <a:off x="6397560" y="1846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same cell with increasingly larger unmixing matrices affects resolution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640476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occurs on a cell-by-cell basis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6440760" y="2995200"/>
            <a:ext cx="525744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unmixing with the same matrix, co-expression of markers can drive similar effect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6417000" y="4132800"/>
            <a:ext cx="5264640" cy="6674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"/>
          <p:cNvSpPr/>
          <p:nvPr/>
        </p:nvSpPr>
        <p:spPr>
          <a:xfrm>
            <a:off x="6400800" y="4132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Explains why different population of cells are shifted vs. each other for certain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" descr=""/>
          <p:cNvPicPr/>
          <p:nvPr/>
        </p:nvPicPr>
        <p:blipFill>
          <a:blip r:embed="rId3"/>
          <a:stretch/>
        </p:blipFill>
        <p:spPr>
          <a:xfrm>
            <a:off x="918720" y="861120"/>
            <a:ext cx="5253120" cy="393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Unstained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8" name="Picture 10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"/>
          <p:cNvSpPr/>
          <p:nvPr/>
        </p:nvSpPr>
        <p:spPr>
          <a:xfrm>
            <a:off x="8971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"/>
          <p:cNvSpPr/>
          <p:nvPr/>
        </p:nvSpPr>
        <p:spPr>
          <a:xfrm>
            <a:off x="8971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8971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3" name=""/>
          <p:cNvSpPr/>
          <p:nvPr/>
        </p:nvSpPr>
        <p:spPr>
          <a:xfrm>
            <a:off x="889920" y="1846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 cell shares the exact same number of autofluorescent compounds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89712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cells have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93312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autofluorescence as a running average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909360" y="4132800"/>
            <a:ext cx="5264640" cy="6674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7" name=""/>
          <p:cNvSpPr/>
          <p:nvPr/>
        </p:nvSpPr>
        <p:spPr>
          <a:xfrm>
            <a:off x="893160" y="4132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running average differs, two autofluorescence form.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897120" y="505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9" name=""/>
          <p:cNvSpPr/>
          <p:nvPr/>
        </p:nvSpPr>
        <p:spPr>
          <a:xfrm>
            <a:off x="897120" y="505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Unaccounting for additional autofluorescence introduces unmixing errors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0" name="" descr=""/>
          <p:cNvPicPr/>
          <p:nvPr/>
        </p:nvPicPr>
        <p:blipFill>
          <a:blip r:embed="rId3"/>
          <a:stretch/>
        </p:blipFill>
        <p:spPr>
          <a:xfrm>
            <a:off x="6225840" y="1936080"/>
            <a:ext cx="5432760" cy="263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Single-color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6" name="Picture 10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"/>
          <p:cNvSpPr/>
          <p:nvPr/>
        </p:nvSpPr>
        <p:spPr>
          <a:xfrm>
            <a:off x="640548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"/>
          <p:cNvSpPr/>
          <p:nvPr/>
        </p:nvSpPr>
        <p:spPr>
          <a:xfrm>
            <a:off x="640548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640548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1" name=""/>
          <p:cNvSpPr/>
          <p:nvPr/>
        </p:nvSpPr>
        <p:spPr>
          <a:xfrm>
            <a:off x="6398280" y="1846800"/>
            <a:ext cx="525744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can be damaged or break apart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640548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have characteristic spectra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644148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Matching the spectra better unmixing results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4" name="" descr=""/>
          <p:cNvPicPr/>
          <p:nvPr/>
        </p:nvPicPr>
        <p:blipFill>
          <a:blip r:embed="rId3"/>
          <a:stretch/>
        </p:blipFill>
        <p:spPr>
          <a:xfrm>
            <a:off x="1371600" y="914400"/>
            <a:ext cx="4642920" cy="296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Instrumental changes over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0" name="Picture 10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/>
          <p:nvPr/>
        </p:nvSpPr>
        <p:spPr>
          <a:xfrm>
            <a:off x="89748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3" name=""/>
          <p:cNvSpPr/>
          <p:nvPr/>
        </p:nvSpPr>
        <p:spPr>
          <a:xfrm>
            <a:off x="89748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"/>
          <p:cNvSpPr/>
          <p:nvPr/>
        </p:nvSpPr>
        <p:spPr>
          <a:xfrm>
            <a:off x="89748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5" name=""/>
          <p:cNvSpPr/>
          <p:nvPr/>
        </p:nvSpPr>
        <p:spPr>
          <a:xfrm>
            <a:off x="890280" y="1846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Attempts to stably maintain instrument performance with QC beads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89748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Instruments change over time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93348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Severe enough changes in laser, array or fluidics can escape fixing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909720" y="4132800"/>
            <a:ext cx="5264640" cy="6674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9" name=""/>
          <p:cNvSpPr/>
          <p:nvPr/>
        </p:nvSpPr>
        <p:spPr>
          <a:xfrm>
            <a:off x="893520" y="4132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Damage to the QC beads can lead to badly set settings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3"/>
          <a:stretch/>
        </p:blipFill>
        <p:spPr>
          <a:xfrm>
            <a:off x="6405120" y="861120"/>
            <a:ext cx="5253120" cy="393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Mix art, science and hoodoo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6" name="Picture 10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"/>
          <p:cNvSpPr/>
          <p:nvPr/>
        </p:nvSpPr>
        <p:spPr>
          <a:xfrm>
            <a:off x="640584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9" name=""/>
          <p:cNvSpPr/>
          <p:nvPr/>
        </p:nvSpPr>
        <p:spPr>
          <a:xfrm>
            <a:off x="640584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0" name=""/>
          <p:cNvSpPr/>
          <p:nvPr/>
        </p:nvSpPr>
        <p:spPr>
          <a:xfrm>
            <a:off x="640584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"/>
          <p:cNvSpPr/>
          <p:nvPr/>
        </p:nvSpPr>
        <p:spPr>
          <a:xfrm>
            <a:off x="6398640" y="1846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best practices arise from a mix of forces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640584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issues arise, how each individual troubleshoots varies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644184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are pretty well understood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6418080" y="4132800"/>
            <a:ext cx="5264640" cy="6674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"/>
          <p:cNvSpPr/>
          <p:nvPr/>
        </p:nvSpPr>
        <p:spPr>
          <a:xfrm>
            <a:off x="6401880" y="4132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are not well understood, and the “fix” may be doing more harm than good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3"/>
          <a:stretch/>
        </p:blipFill>
        <p:spPr>
          <a:xfrm>
            <a:off x="918720" y="914400"/>
            <a:ext cx="5253120" cy="393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SRLs as force for good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2" name="Picture 10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"/>
          <p:cNvSpPr/>
          <p:nvPr/>
        </p:nvSpPr>
        <p:spPr>
          <a:xfrm>
            <a:off x="93420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6" name=""/>
          <p:cNvSpPr/>
          <p:nvPr/>
        </p:nvSpPr>
        <p:spPr>
          <a:xfrm>
            <a:off x="93420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7" name=""/>
          <p:cNvSpPr/>
          <p:nvPr/>
        </p:nvSpPr>
        <p:spPr>
          <a:xfrm>
            <a:off x="93420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"/>
          <p:cNvSpPr/>
          <p:nvPr/>
        </p:nvSpPr>
        <p:spPr>
          <a:xfrm>
            <a:off x="927000" y="1846800"/>
            <a:ext cx="525744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Wealth of technical expertise, broad perspective arising from experience with broad array of panels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93420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Shared resource laboratories play important roles for the community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97020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Provide access to better instruments for a wider pool of researchers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946440" y="4132800"/>
            <a:ext cx="5264640" cy="6674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2" name=""/>
          <p:cNvSpPr/>
          <p:nvPr/>
        </p:nvSpPr>
        <p:spPr>
          <a:xfrm>
            <a:off x="930240" y="4132800"/>
            <a:ext cx="525744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Help catch and correct instrumental issues before it becomes a $300,000 paperweight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Wide range of panels and cell types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8" name="Picture 10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0" name="" descr=""/>
          <p:cNvPicPr/>
          <p:nvPr/>
        </p:nvPicPr>
        <p:blipFill>
          <a:blip r:embed="rId3"/>
          <a:stretch/>
        </p:blipFill>
        <p:spPr>
          <a:xfrm>
            <a:off x="914400" y="86112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"/>
          <p:cNvSpPr/>
          <p:nvPr/>
        </p:nvSpPr>
        <p:spPr>
          <a:xfrm>
            <a:off x="640656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2" name=""/>
          <p:cNvSpPr/>
          <p:nvPr/>
        </p:nvSpPr>
        <p:spPr>
          <a:xfrm>
            <a:off x="640656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640656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"/>
          <p:cNvSpPr/>
          <p:nvPr/>
        </p:nvSpPr>
        <p:spPr>
          <a:xfrm>
            <a:off x="6399360" y="1846800"/>
            <a:ext cx="525744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Variation in panels, tissues, goals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640656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Wide range of users using facilities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644256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Context that often individual researchers may miss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Instruments over lifespan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2" name="Picture 10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4" name="" descr=""/>
          <p:cNvPicPr/>
          <p:nvPr/>
        </p:nvPicPr>
        <p:blipFill>
          <a:blip r:embed="rId3"/>
          <a:stretch/>
        </p:blipFill>
        <p:spPr>
          <a:xfrm>
            <a:off x="6405120" y="86112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6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8" name=""/>
          <p:cNvSpPr/>
          <p:nvPr/>
        </p:nvSpPr>
        <p:spPr>
          <a:xfrm>
            <a:off x="891720" y="1846800"/>
            <a:ext cx="525744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 good times, and bad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898920" y="910800"/>
            <a:ext cx="5268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Interact with instruments over their lifespan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934920" y="2995200"/>
            <a:ext cx="5257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at the individual instrument wealth of technical data if tools to leverage are present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Who spots the issues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6" name="Picture 11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" descr=""/>
          <p:cNvPicPr/>
          <p:nvPr/>
        </p:nvPicPr>
        <p:blipFill>
          <a:blip r:embed="rId3"/>
          <a:stretch/>
        </p:blipFill>
        <p:spPr>
          <a:xfrm>
            <a:off x="914400" y="86112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0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1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Staff more likely to encounter the automated flagged errors due to startup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issues arise, who identifies them vary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6442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Users that consistently work with a panel more likely to see perturbations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Im tired maaannn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0" name="Picture 11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4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5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Asking to take on another role requiring effort is a tall ask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Staff remain overworked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Better ways to enable detection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 the detection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4" name="Picture 11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6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9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0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Implementing and refining systems to flag the issues could raise awareness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Within existing practice, data that could be used to flag issues is already being collected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6442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Upfront cost, uncertain gain, what benefit long run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decipher some underlying unanswered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8" name="Picture 11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3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Systematically identify the source of the quirks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Beyond identifying issues, set up framework to interrogate unknown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934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Improve the practice, and our understanding of the underlying technology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Manufacturer accessability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52" name="Picture 1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7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8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no access to underlying raw data, not going to get as far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Approach depends on manufacturer externalizing certain elements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Having parsable experiment .xml helps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we do as far as QC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66" name="Picture 1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9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1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systems that process and send to GitHub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At our core, QC is run in the morning, also acquire pre-post bead samples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934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available for querying, as well as for use in interactive dashboards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4" name="Picture 6" descr=""/>
          <p:cNvPicPr/>
          <p:nvPr/>
        </p:nvPicPr>
        <p:blipFill>
          <a:blip r:embed="rId3"/>
          <a:stretch/>
        </p:blipFill>
        <p:spPr>
          <a:xfrm>
            <a:off x="6941520" y="800280"/>
            <a:ext cx="4524480" cy="475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 little programming knowledge makes you dangerous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0" name="Picture 1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2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4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5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6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But beyond bioinformatics, knowledge of principles can make you lethal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Programming not part of a regular job descriptions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From reports, to automation, to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Things you may have not known about your Aurora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4" name="Picture 1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8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9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0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outputs as their own .fcs file type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Lets use a Cytek Aurora at our core as principle for what I argue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.Expt etc files as .xml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Sit Flushes in App Log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8" name="Picture 1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0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2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3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4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Parse this txt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Every sit flush ever occurs is recorded in the AppLog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do useful things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Usage Plots vs. hour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22" name="Picture 2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4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6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7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8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 when the instrument actually being used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Condense and show usage over the course of 15 minute periods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Cross compare to actual schedule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Commando Users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6" name="Picture 2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0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1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2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Still able to identify users going commando on usage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 monitoring system based on a log-in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Address individually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Usage Pattern Over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50" name="Picture 2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4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5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6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Monitor busy times for a particular instrument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Track individual users and their labs experiment patterns over time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934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 whether need is present for another similar instrument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CSV folder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4" name="Picture 2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6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8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9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0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Not tidy, but still parseable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Likewise, QC is returned as .csv files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Wealth of technical data not directly exposed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Temperature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78" name="Picture 2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0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2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3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4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Room changes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temperature over time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Impact on the rcvs?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2" name="Picture 3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6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7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8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Change over time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 early are staff getting in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Vs. when actually acquired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Parse for errors, sequences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6" name="Picture 3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9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0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1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2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indicative of when clean flow cells etc are run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Errors also stored in the AppLog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Longer tracking of instrument performance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FCS files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20" name="Picture 3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2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4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5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6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Additional parsing set up required to take full use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Beyond manufacturer provided, .fcs files hold a wealth of information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934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wield a bunch of other datasets towards our automation goals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doing what is says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34" name="Picture 34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6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7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8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9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happens when things fail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Does instrument QC actually track over time?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6442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Can we do this with actual user data and predict what is occuring?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2" name="Picture 10" descr=""/>
          <p:cNvPicPr/>
          <p:nvPr/>
        </p:nvPicPr>
        <p:blipFill>
          <a:blip r:embed="rId3"/>
          <a:stretch/>
        </p:blipFill>
        <p:spPr>
          <a:xfrm>
            <a:off x="909000" y="959760"/>
            <a:ext cx="5263200" cy="246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CSVs to dashboard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48" name="Picture 3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0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2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3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InstrumentQC dashboards for interactive levy jenning plots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Beyond processed data, can we leverage it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>
            <a:off x="934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Stage interventions a month before issues due to the lasers arise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6" name="Picture 3" descr=""/>
          <p:cNvPicPr/>
          <p:nvPr/>
        </p:nvPicPr>
        <p:blipFill>
          <a:blip r:embed="rId3"/>
          <a:stretch/>
        </p:blipFill>
        <p:spPr>
          <a:xfrm>
            <a:off x="7277400" y="1143000"/>
            <a:ext cx="4609800" cy="220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7" name="Graphic 1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400440" y="1173240"/>
            <a:ext cx="777240" cy="83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PlaceHolder 6"/>
          <p:cNvSpPr txBox="1"/>
          <p:nvPr/>
        </p:nvSpPr>
        <p:spPr>
          <a:xfrm>
            <a:off x="6228000" y="2074320"/>
            <a:ext cx="922320" cy="247320"/>
          </a:xfrm>
          <a:prstGeom prst="rect">
            <a:avLst/>
          </a:prstGeom>
          <a:noFill/>
          <a:ln w="19080">
            <a:noFill/>
          </a:ln>
        </p:spPr>
        <p:txBody>
          <a:bodyPr anchor="t" anchorCtr="1">
            <a:normAutofit fontScale="47500" lnSpcReduction="19999"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7"/>
          <p:cNvSpPr txBox="1"/>
          <p:nvPr/>
        </p:nvSpPr>
        <p:spPr>
          <a:xfrm>
            <a:off x="6228000" y="3192480"/>
            <a:ext cx="922320" cy="247320"/>
          </a:xfrm>
          <a:prstGeom prst="rect">
            <a:avLst/>
          </a:prstGeom>
          <a:noFill/>
          <a:ln w="19080">
            <a:noFill/>
          </a:ln>
        </p:spPr>
        <p:txBody>
          <a:bodyPr anchor="t" anchorCtr="1">
            <a:normAutofit fontScale="55000" lnSpcReduction="19999"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0" name="Picture 8" descr=""/>
          <p:cNvPicPr/>
          <p:nvPr/>
        </p:nvPicPr>
        <p:blipFill>
          <a:blip r:embed="rId6"/>
          <a:srcRect l="3481" t="5989" r="0" b="0"/>
          <a:stretch/>
        </p:blipFill>
        <p:spPr>
          <a:xfrm>
            <a:off x="6428160" y="2358720"/>
            <a:ext cx="785520" cy="79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Damaged QC beads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66" name="Picture 3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9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0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2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Loss of an APC-Fire 810 like molecule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Lot 2006 and bleach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Incorrect settings, bad unmixing outcomes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Expt files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80" name="Picture 3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2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4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5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6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Every setting on your setup encoded starting in version 3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.Expt files as .xml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are all your facility users up to?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Users not knowing about threshold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94" name="Picture 3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8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9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0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don’t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 the users actually set thresholds?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Easy enough intervention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Correct antibody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08" name="Picture 3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0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1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2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3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4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 in a bad habit carrying over from conventional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Does the antibody match the reference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Ay ya yay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Stain index and prediction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22" name="Picture 4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4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6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7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8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Can we make predictions to better allow for panel building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6406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From each, can we identify stain index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6442920" y="2995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Rather than forgotten, what gold lies sitting forgotten in our external hard drives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Correlating variation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36" name="Picture 4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8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9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0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1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2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See differential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 issues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 do we tie these two together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 my unstained zombied?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50" name="Picture 4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2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3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4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5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6" name=""/>
          <p:cNvSpPr/>
          <p:nvPr/>
        </p:nvSpPr>
        <p:spPr>
          <a:xfrm>
            <a:off x="6399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 and stage interventions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Users that keep staining in plates staining their unstained with other fluors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Plates vs. Tubes generally quantified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Future works in progress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64" name="Picture 4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6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7" name=""/>
          <p:cNvSpPr/>
          <p:nvPr/>
        </p:nvSpPr>
        <p:spPr>
          <a:xfrm>
            <a:off x="898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8" name=""/>
          <p:cNvSpPr/>
          <p:nvPr/>
        </p:nvSpPr>
        <p:spPr>
          <a:xfrm>
            <a:off x="898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9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0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go beyond single-staff driven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Need for systematic if then frameworks for decision making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934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Need to generalize beyond a single-platform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Regardless, what one person can do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8" name="Picture 4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0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"/>
          <p:cNvSpPr/>
          <p:nvPr/>
        </p:nvSpPr>
        <p:spPr>
          <a:xfrm>
            <a:off x="6406920" y="2995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2" name=""/>
          <p:cNvSpPr/>
          <p:nvPr/>
        </p:nvSpPr>
        <p:spPr>
          <a:xfrm>
            <a:off x="6406920" y="1846800"/>
            <a:ext cx="5268240" cy="89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3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4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Only so much good trouble that any one individual can get into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End of the day, what you can do is driven by your own curiosity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6442920" y="2995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But what if that wasn’t the case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But what if we had a community soapbox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9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0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92" name="Picture 6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3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4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5" name=""/>
          <p:cNvSpPr/>
          <p:nvPr/>
        </p:nvSpPr>
        <p:spPr>
          <a:xfrm>
            <a:off x="898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6" name=""/>
          <p:cNvSpPr/>
          <p:nvPr/>
        </p:nvSpPr>
        <p:spPr>
          <a:xfrm>
            <a:off x="901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7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8" name=""/>
          <p:cNvSpPr/>
          <p:nvPr/>
        </p:nvSpPr>
        <p:spPr>
          <a:xfrm>
            <a:off x="891720" y="1846800"/>
            <a:ext cx="525744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if we leveraged our community resources together to drive a stake through the quirks heart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Adoption SFC was thanks to the community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934920" y="3139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Waiting on companies to implement things… not a fast lane to success historically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Manufacturers can help or get out of the way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3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4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5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06" name="Picture 6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7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8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9" name=""/>
          <p:cNvSpPr/>
          <p:nvPr/>
        </p:nvSpPr>
        <p:spPr>
          <a:xfrm>
            <a:off x="6406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0" name=""/>
          <p:cNvSpPr/>
          <p:nvPr/>
        </p:nvSpPr>
        <p:spPr>
          <a:xfrm>
            <a:off x="6409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1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2" name=""/>
          <p:cNvSpPr/>
          <p:nvPr/>
        </p:nvSpPr>
        <p:spPr>
          <a:xfrm>
            <a:off x="6399720" y="1846800"/>
            <a:ext cx="52574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Benefit from the improved reliance, can integrate at their own pace if they wish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Manufacturers that make it easier for us to work will attract more tinkering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6442920" y="3139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Others that are not so cooperative will be forced to also move or get left behind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Rise together stronger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7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8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9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20" name="Picture 8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1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2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898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4" name=""/>
          <p:cNvSpPr/>
          <p:nvPr/>
        </p:nvSpPr>
        <p:spPr>
          <a:xfrm>
            <a:off x="901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5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6" name=""/>
          <p:cNvSpPr/>
          <p:nvPr/>
        </p:nvSpPr>
        <p:spPr>
          <a:xfrm>
            <a:off x="891720" y="1846800"/>
            <a:ext cx="52574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Why wait for others when you can collaborate and change things now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898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 the change that we want in our community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"/>
          <p:cNvSpPr/>
          <p:nvPr/>
        </p:nvSpPr>
        <p:spPr>
          <a:xfrm>
            <a:off x="934920" y="3139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Tonight we shall steal the moon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Open-source and shared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1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2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3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34" name="Picture 8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5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6" name=""/>
          <p:cNvSpPr/>
          <p:nvPr/>
        </p:nvSpPr>
        <p:spPr>
          <a:xfrm>
            <a:off x="6406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7" name=""/>
          <p:cNvSpPr/>
          <p:nvPr/>
        </p:nvSpPr>
        <p:spPr>
          <a:xfrm>
            <a:off x="6409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8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9" name=""/>
          <p:cNvSpPr/>
          <p:nvPr/>
        </p:nvSpPr>
        <p:spPr>
          <a:xfrm>
            <a:off x="6399720" y="1846800"/>
            <a:ext cx="525744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 can go further when we work together, and when the exchange of ideas is open and free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Hoarding our tools and knowledge has not served the community well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6442920" y="31392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Open-source and open-science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2" name="" descr=""/>
          <p:cNvPicPr/>
          <p:nvPr/>
        </p:nvPicPr>
        <p:blipFill>
          <a:blip r:embed="rId3"/>
          <a:srcRect l="0" t="0" r="32212" b="0"/>
          <a:stretch/>
        </p:blipFill>
        <p:spPr>
          <a:xfrm>
            <a:off x="1371600" y="914400"/>
            <a:ext cx="4327560" cy="348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not just for the analyst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5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6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7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48" name="Picture 64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9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0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"/>
          <p:cNvSpPr/>
          <p:nvPr/>
        </p:nvSpPr>
        <p:spPr>
          <a:xfrm>
            <a:off x="898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2" name=""/>
          <p:cNvSpPr/>
          <p:nvPr/>
        </p:nvSpPr>
        <p:spPr>
          <a:xfrm>
            <a:off x="901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3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4" name=""/>
          <p:cNvSpPr/>
          <p:nvPr/>
        </p:nvSpPr>
        <p:spPr>
          <a:xfrm>
            <a:off x="891720" y="1846800"/>
            <a:ext cx="5257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Wider ecosystem that can be of use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as not just the bionformaticians domain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934920" y="3139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Who knows what the next cool idea will come from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600" cy="1313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8" name="Picture 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280" cy="39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9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3320" cy="3517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60" name=""/>
          <p:cNvGrpSpPr/>
          <p:nvPr/>
        </p:nvGrpSpPr>
        <p:grpSpPr>
          <a:xfrm>
            <a:off x="5486400" y="1150920"/>
            <a:ext cx="6251760" cy="4334760"/>
            <a:chOff x="5486400" y="1150920"/>
            <a:chExt cx="6251760" cy="4334760"/>
          </a:xfrm>
        </p:grpSpPr>
        <p:pic>
          <p:nvPicPr>
            <p:cNvPr id="861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1760" cy="4334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62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37840" cy="25664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863" name=""/>
          <p:cNvSpPr/>
          <p:nvPr/>
        </p:nvSpPr>
        <p:spPr>
          <a:xfrm>
            <a:off x="444600" y="1150920"/>
            <a:ext cx="4563360" cy="4559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4" name="Rectangle 2"/>
          <p:cNvSpPr/>
          <p:nvPr/>
        </p:nvSpPr>
        <p:spPr>
          <a:xfrm>
            <a:off x="415440" y="1186920"/>
            <a:ext cx="46094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600" cy="1313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6" name="Picture 4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280" cy="39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7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6960" cy="150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8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3880" cy="401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9" name="Picture 5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69200" cy="145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0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1800" cy="11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1" name="PlaceHolder 8"/>
          <p:cNvSpPr/>
          <p:nvPr/>
        </p:nvSpPr>
        <p:spPr>
          <a:xfrm>
            <a:off x="613800" y="4836600"/>
            <a:ext cx="1546200" cy="10432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2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3320" cy="35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"/>
          <p:cNvSpPr/>
          <p:nvPr/>
        </p:nvSpPr>
        <p:spPr>
          <a:xfrm>
            <a:off x="6629400" y="1467000"/>
            <a:ext cx="4336560" cy="3783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74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7800" cy="552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Rectangle 1"/>
          <p:cNvSpPr/>
          <p:nvPr/>
        </p:nvSpPr>
        <p:spPr>
          <a:xfrm>
            <a:off x="6665400" y="1467000"/>
            <a:ext cx="45939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7" name="Picture 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"/>
          <p:cNvSpPr/>
          <p:nvPr/>
        </p:nvSpPr>
        <p:spPr>
          <a:xfrm>
            <a:off x="252000" y="1238040"/>
            <a:ext cx="4649400" cy="42411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Rectangle 4"/>
          <p:cNvSpPr/>
          <p:nvPr/>
        </p:nvSpPr>
        <p:spPr>
          <a:xfrm>
            <a:off x="307440" y="1443600"/>
            <a:ext cx="45939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2" name="Picture 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3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6400" cy="441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"/>
          <p:cNvSpPr/>
          <p:nvPr/>
        </p:nvSpPr>
        <p:spPr>
          <a:xfrm>
            <a:off x="6773760" y="914400"/>
            <a:ext cx="4649400" cy="4793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Rectangle 3"/>
          <p:cNvSpPr/>
          <p:nvPr/>
        </p:nvSpPr>
        <p:spPr>
          <a:xfrm>
            <a:off x="6828480" y="1048680"/>
            <a:ext cx="459396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8" name="Picture 14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9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39720" cy="480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"/>
          <p:cNvSpPr/>
          <p:nvPr/>
        </p:nvSpPr>
        <p:spPr>
          <a:xfrm>
            <a:off x="685800" y="2561400"/>
            <a:ext cx="4649400" cy="1364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040" cy="1315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Rectangle 6"/>
          <p:cNvSpPr/>
          <p:nvPr/>
        </p:nvSpPr>
        <p:spPr>
          <a:xfrm>
            <a:off x="717480" y="2561400"/>
            <a:ext cx="4593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3" name="Picture 1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720" cy="3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4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1640" cy="503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"/>
          <p:cNvSpPr/>
          <p:nvPr/>
        </p:nvSpPr>
        <p:spPr>
          <a:xfrm>
            <a:off x="2569320" y="4523400"/>
            <a:ext cx="6620760" cy="1591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600" cy="1313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Rectangle 5"/>
          <p:cNvSpPr/>
          <p:nvPr/>
        </p:nvSpPr>
        <p:spPr>
          <a:xfrm>
            <a:off x="2569320" y="4523400"/>
            <a:ext cx="70221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8" name="Picture 2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280" cy="39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9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1760" cy="343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3320" cy="35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1" name=""/>
          <p:cNvSpPr/>
          <p:nvPr/>
        </p:nvSpPr>
        <p:spPr>
          <a:xfrm rot="19411800">
            <a:off x="10548000" y="793440"/>
            <a:ext cx="452880" cy="9100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scripts are here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5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6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07" name="Picture 6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120" cy="39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0" name=""/>
          <p:cNvSpPr/>
          <p:nvPr/>
        </p:nvSpPr>
        <p:spPr>
          <a:xfrm>
            <a:off x="898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1" name=""/>
          <p:cNvSpPr/>
          <p:nvPr/>
        </p:nvSpPr>
        <p:spPr>
          <a:xfrm>
            <a:off x="901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2" name=""/>
          <p:cNvSpPr/>
          <p:nvPr/>
        </p:nvSpPr>
        <p:spPr>
          <a:xfrm>
            <a:off x="898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3" name=""/>
          <p:cNvSpPr/>
          <p:nvPr/>
        </p:nvSpPr>
        <p:spPr>
          <a:xfrm>
            <a:off x="891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Here is our brand new website with the 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898920" y="910800"/>
            <a:ext cx="5268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Actions where my mouth 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"/>
          <p:cNvSpPr/>
          <p:nvPr/>
        </p:nvSpPr>
        <p:spPr>
          <a:xfrm>
            <a:off x="934920" y="31392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video explanations are on their way to boot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Call for Cytometry QC data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"/>
          <p:cNvSpPr/>
          <p:nvPr/>
        </p:nvSpPr>
        <p:spPr>
          <a:xfrm>
            <a:off x="914400" y="685800"/>
            <a:ext cx="36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8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9" name=""/>
          <p:cNvSpPr/>
          <p:nvPr/>
        </p:nvSpPr>
        <p:spPr>
          <a:xfrm flipV="1">
            <a:off x="11658600" y="685800"/>
            <a:ext cx="36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0" name=""/>
          <p:cNvSpPr/>
          <p:nvPr/>
        </p:nvSpPr>
        <p:spPr>
          <a:xfrm>
            <a:off x="914400" y="6858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21" name="Picture 6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040" cy="29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2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52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3" name=""/>
          <p:cNvSpPr/>
          <p:nvPr/>
        </p:nvSpPr>
        <p:spPr>
          <a:xfrm>
            <a:off x="6406920" y="3139200"/>
            <a:ext cx="5257440" cy="8906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4" name=""/>
          <p:cNvSpPr/>
          <p:nvPr/>
        </p:nvSpPr>
        <p:spPr>
          <a:xfrm>
            <a:off x="6409800" y="1846800"/>
            <a:ext cx="5265360" cy="1125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5" name=""/>
          <p:cNvSpPr/>
          <p:nvPr/>
        </p:nvSpPr>
        <p:spPr>
          <a:xfrm>
            <a:off x="6406920" y="910800"/>
            <a:ext cx="5250240" cy="6854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6" name=""/>
          <p:cNvSpPr/>
          <p:nvPr/>
        </p:nvSpPr>
        <p:spPr>
          <a:xfrm>
            <a:off x="6399720" y="1846800"/>
            <a:ext cx="5257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Seeking to generalize, but we only have certain instruments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6406920" y="910800"/>
            <a:ext cx="5268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 R package that writes the dashboards for you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6442920" y="3139200"/>
            <a:ext cx="525744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Contribute your QC data from different instruments, I will see that you can do set up as well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9" name="Picture 7" descr=""/>
          <p:cNvPicPr/>
          <p:nvPr/>
        </p:nvPicPr>
        <p:blipFill>
          <a:blip r:embed="rId3"/>
          <a:stretch/>
        </p:blipFill>
        <p:spPr>
          <a:xfrm>
            <a:off x="1600200" y="971640"/>
            <a:ext cx="3886200" cy="449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8686800" y="5137200"/>
            <a:ext cx="3088080" cy="4168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1" name=""/>
          <p:cNvSpPr/>
          <p:nvPr/>
        </p:nvSpPr>
        <p:spPr>
          <a:xfrm>
            <a:off x="349200" y="4885200"/>
            <a:ext cx="2161080" cy="5968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2" name=""/>
          <p:cNvSpPr/>
          <p:nvPr/>
        </p:nvSpPr>
        <p:spPr>
          <a:xfrm>
            <a:off x="10395000" y="2685600"/>
            <a:ext cx="1362960" cy="6771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3" name=""/>
          <p:cNvSpPr/>
          <p:nvPr/>
        </p:nvSpPr>
        <p:spPr>
          <a:xfrm>
            <a:off x="8458200" y="2649600"/>
            <a:ext cx="1362960" cy="6771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4" name=""/>
          <p:cNvSpPr/>
          <p:nvPr/>
        </p:nvSpPr>
        <p:spPr>
          <a:xfrm>
            <a:off x="4102200" y="3828600"/>
            <a:ext cx="3894480" cy="2110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5" name=""/>
          <p:cNvSpPr/>
          <p:nvPr/>
        </p:nvSpPr>
        <p:spPr>
          <a:xfrm>
            <a:off x="349200" y="3803400"/>
            <a:ext cx="2158560" cy="907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6" name=""/>
          <p:cNvSpPr/>
          <p:nvPr/>
        </p:nvSpPr>
        <p:spPr>
          <a:xfrm>
            <a:off x="349200" y="1204200"/>
            <a:ext cx="3420360" cy="678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7" name=""/>
          <p:cNvSpPr/>
          <p:nvPr/>
        </p:nvSpPr>
        <p:spPr>
          <a:xfrm>
            <a:off x="338400" y="2118600"/>
            <a:ext cx="3420360" cy="1591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0120" cy="1313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9" name="Picture 24" descr=""/>
          <p:cNvPicPr/>
          <p:nvPr/>
        </p:nvPicPr>
        <p:blipFill>
          <a:blip r:embed="rId1"/>
          <a:stretch/>
        </p:blipFill>
        <p:spPr>
          <a:xfrm>
            <a:off x="9290520" y="3457800"/>
            <a:ext cx="2359440" cy="41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0" name="Picture 25" descr=""/>
          <p:cNvPicPr/>
          <p:nvPr/>
        </p:nvPicPr>
        <p:blipFill>
          <a:blip r:embed="rId2"/>
          <a:stretch/>
        </p:blipFill>
        <p:spPr>
          <a:xfrm>
            <a:off x="9673200" y="3812400"/>
            <a:ext cx="197820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1" name="Content Placeholder 1"/>
          <p:cNvSpPr/>
          <p:nvPr/>
        </p:nvSpPr>
        <p:spPr>
          <a:xfrm>
            <a:off x="228600" y="3803400"/>
            <a:ext cx="3967920" cy="18169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Box 6"/>
          <p:cNvSpPr/>
          <p:nvPr/>
        </p:nvSpPr>
        <p:spPr>
          <a:xfrm>
            <a:off x="255240" y="1215000"/>
            <a:ext cx="3395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Box 8"/>
          <p:cNvSpPr/>
          <p:nvPr/>
        </p:nvSpPr>
        <p:spPr>
          <a:xfrm>
            <a:off x="302400" y="2203200"/>
            <a:ext cx="339552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Content Placeholder 3"/>
          <p:cNvSpPr/>
          <p:nvPr/>
        </p:nvSpPr>
        <p:spPr>
          <a:xfrm>
            <a:off x="9829800" y="1486800"/>
            <a:ext cx="3967920" cy="18169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Box 9"/>
          <p:cNvSpPr/>
          <p:nvPr/>
        </p:nvSpPr>
        <p:spPr>
          <a:xfrm>
            <a:off x="8001000" y="2846880"/>
            <a:ext cx="225252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Box 14"/>
          <p:cNvSpPr/>
          <p:nvPr/>
        </p:nvSpPr>
        <p:spPr>
          <a:xfrm>
            <a:off x="10287000" y="2894400"/>
            <a:ext cx="156672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7" name="Picture 2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38880" cy="107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8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4400" cy="8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9" name="TextBox 15"/>
          <p:cNvSpPr/>
          <p:nvPr/>
        </p:nvSpPr>
        <p:spPr>
          <a:xfrm>
            <a:off x="228600" y="5065200"/>
            <a:ext cx="34966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0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1560" cy="159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1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1560" cy="159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2" name="Picture 42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4800" cy="2426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3" name="Picture 4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4800" cy="93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4" name="Picture 4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0280" cy="93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Rectangle 7"/>
          <p:cNvSpPr/>
          <p:nvPr/>
        </p:nvSpPr>
        <p:spPr>
          <a:xfrm>
            <a:off x="4138200" y="3850200"/>
            <a:ext cx="373788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Rectangle 8"/>
          <p:cNvSpPr/>
          <p:nvPr/>
        </p:nvSpPr>
        <p:spPr>
          <a:xfrm>
            <a:off x="8602200" y="4201200"/>
            <a:ext cx="3737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7" name="" descr=""/>
          <p:cNvPicPr/>
          <p:nvPr/>
        </p:nvPicPr>
        <p:blipFill>
          <a:blip r:embed="rId13"/>
          <a:stretch/>
        </p:blipFill>
        <p:spPr>
          <a:xfrm>
            <a:off x="8769600" y="4201200"/>
            <a:ext cx="397800" cy="34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8" name=""/>
          <p:cNvSpPr/>
          <p:nvPr/>
        </p:nvSpPr>
        <p:spPr>
          <a:xfrm>
            <a:off x="8686800" y="4597200"/>
            <a:ext cx="3088080" cy="4168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9" name=""/>
          <p:cNvSpPr/>
          <p:nvPr/>
        </p:nvSpPr>
        <p:spPr>
          <a:xfrm>
            <a:off x="8686800" y="4633200"/>
            <a:ext cx="30034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7894800" y="5172840"/>
            <a:ext cx="30034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                      Hiring?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1" name="" descr=""/>
          <p:cNvPicPr/>
          <p:nvPr/>
        </p:nvPicPr>
        <p:blipFill>
          <a:blip r:embed="rId14"/>
          <a:stretch/>
        </p:blipFill>
        <p:spPr>
          <a:xfrm>
            <a:off x="10395000" y="5208840"/>
            <a:ext cx="398160" cy="33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1560" cy="1318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Rectangle 9"/>
          <p:cNvSpPr/>
          <p:nvPr/>
        </p:nvSpPr>
        <p:spPr>
          <a:xfrm>
            <a:off x="8557200" y="2791800"/>
            <a:ext cx="2964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Rectangle 10"/>
          <p:cNvSpPr/>
          <p:nvPr/>
        </p:nvSpPr>
        <p:spPr>
          <a:xfrm>
            <a:off x="4991400" y="5257800"/>
            <a:ext cx="2964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Rectangle 11"/>
          <p:cNvSpPr/>
          <p:nvPr/>
        </p:nvSpPr>
        <p:spPr>
          <a:xfrm>
            <a:off x="4991400" y="2791800"/>
            <a:ext cx="2964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Rectangle 12"/>
          <p:cNvSpPr/>
          <p:nvPr/>
        </p:nvSpPr>
        <p:spPr>
          <a:xfrm>
            <a:off x="876600" y="2791800"/>
            <a:ext cx="2964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Rectangle 13"/>
          <p:cNvSpPr/>
          <p:nvPr/>
        </p:nvSpPr>
        <p:spPr>
          <a:xfrm>
            <a:off x="876600" y="5257800"/>
            <a:ext cx="2964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Rectangle 14"/>
          <p:cNvSpPr/>
          <p:nvPr/>
        </p:nvSpPr>
        <p:spPr>
          <a:xfrm>
            <a:off x="8557200" y="5029200"/>
            <a:ext cx="2964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9" name="Picture 50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456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0" name="Picture 51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104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1" name="Picture 52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4760" cy="157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2" name="Picture 53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068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3" name="Picture 54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6040" y="1119240"/>
            <a:ext cx="1951920" cy="157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4" name="Picture 55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4560" cy="159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5" name="Graphic 8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1960" cy="182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6" name="Graphic 9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1960" cy="182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7" name="Graphic 11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1960" cy="182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8" name="Graphic 12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1960" cy="182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9" name="Graphic 13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6240" cy="168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0" name="Graphic 14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1960" cy="182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1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3320" cy="35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2" name="Picture 56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3280" cy="391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"/>
          <p:cNvSpPr/>
          <p:nvPr/>
        </p:nvSpPr>
        <p:spPr>
          <a:xfrm>
            <a:off x="4343400" y="3429000"/>
            <a:ext cx="3423600" cy="68040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84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5" name=""/>
          <p:cNvSpPr/>
          <p:nvPr/>
        </p:nvSpPr>
        <p:spPr>
          <a:xfrm>
            <a:off x="0" y="41040"/>
            <a:ext cx="1211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7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3840" cy="182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8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3760" cy="196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9" name=""/>
          <p:cNvSpPr/>
          <p:nvPr/>
        </p:nvSpPr>
        <p:spPr>
          <a:xfrm>
            <a:off x="687600" y="3476520"/>
            <a:ext cx="342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8208000" y="3428640"/>
            <a:ext cx="342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"/>
          <p:cNvSpPr/>
          <p:nvPr/>
        </p:nvSpPr>
        <p:spPr>
          <a:xfrm>
            <a:off x="4343400" y="3475800"/>
            <a:ext cx="342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2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6640" cy="221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3" name=""/>
          <p:cNvSpPr/>
          <p:nvPr/>
        </p:nvSpPr>
        <p:spPr>
          <a:xfrm>
            <a:off x="8206200" y="3428640"/>
            <a:ext cx="3423600" cy="6804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4" name=""/>
          <p:cNvSpPr/>
          <p:nvPr/>
        </p:nvSpPr>
        <p:spPr>
          <a:xfrm>
            <a:off x="685800" y="3429000"/>
            <a:ext cx="3423600" cy="68040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95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4840" cy="14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6" name=""/>
          <p:cNvSpPr/>
          <p:nvPr/>
        </p:nvSpPr>
        <p:spPr>
          <a:xfrm>
            <a:off x="6172200" y="5943600"/>
            <a:ext cx="2509200" cy="68040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97" name="Picture 1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0600" cy="172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8" name=""/>
          <p:cNvSpPr/>
          <p:nvPr/>
        </p:nvSpPr>
        <p:spPr>
          <a:xfrm>
            <a:off x="6930000" y="6100200"/>
            <a:ext cx="957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9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1800" cy="59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1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040" cy="248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2" name="TextBox 7"/>
          <p:cNvSpPr/>
          <p:nvPr/>
        </p:nvSpPr>
        <p:spPr>
          <a:xfrm>
            <a:off x="1491480" y="5803560"/>
            <a:ext cx="1973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3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1720" cy="150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4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5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"/>
          <p:cNvSpPr/>
          <p:nvPr/>
        </p:nvSpPr>
        <p:spPr>
          <a:xfrm>
            <a:off x="6028200" y="914400"/>
            <a:ext cx="4110840" cy="5482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7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1800" cy="59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8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9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040" cy="248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0" name="TextBox 11"/>
          <p:cNvSpPr/>
          <p:nvPr/>
        </p:nvSpPr>
        <p:spPr>
          <a:xfrm>
            <a:off x="1491480" y="5803560"/>
            <a:ext cx="1973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1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1720" cy="150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2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3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7979400" y="1143000"/>
            <a:ext cx="2073600" cy="52538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5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1800" cy="59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6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160" cy="63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7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040" cy="248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8" name="TextBox 12"/>
          <p:cNvSpPr/>
          <p:nvPr/>
        </p:nvSpPr>
        <p:spPr>
          <a:xfrm>
            <a:off x="1491480" y="5803560"/>
            <a:ext cx="197352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9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1720" cy="150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0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1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753</TotalTime>
  <Application>LibreOffice/25.2.3.2$Linux_X86_64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2026-10-31T13:31:47Z</dcterms:modified>
  <cp:revision>88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r8>3</vt:r8>
  </property>
  <property fmtid="{D5CDD505-2E9C-101B-9397-08002B2CF9AE}" pid="4" name="PresentationFormat">
    <vt:lpwstr>Widescreen</vt:lpwstr>
  </property>
  <property fmtid="{D5CDD505-2E9C-101B-9397-08002B2CF9AE}" pid="5" name="Slides">
    <vt:r8>39</vt:r8>
  </property>
  <property fmtid="{D5CDD505-2E9C-101B-9397-08002B2CF9AE}" pid="6" name="_dlc_DocIdItemGuid">
    <vt:lpwstr>4d3e5825-e8bc-4995-b9ad-4f8ee15e5c87</vt:lpwstr>
  </property>
</Properties>
</file>